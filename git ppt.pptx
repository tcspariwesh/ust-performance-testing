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2" r:id="rId1"/>
  </p:sldMasterIdLst>
  <p:notesMasterIdLst>
    <p:notesMasterId r:id="rId28"/>
  </p:notesMasterIdLst>
  <p:sldIdLst>
    <p:sldId id="292" r:id="rId2"/>
    <p:sldId id="322" r:id="rId3"/>
    <p:sldId id="258" r:id="rId4"/>
    <p:sldId id="293" r:id="rId5"/>
    <p:sldId id="294" r:id="rId6"/>
    <p:sldId id="295" r:id="rId7"/>
    <p:sldId id="300" r:id="rId8"/>
    <p:sldId id="301" r:id="rId9"/>
    <p:sldId id="313" r:id="rId10"/>
    <p:sldId id="299" r:id="rId11"/>
    <p:sldId id="318" r:id="rId12"/>
    <p:sldId id="319" r:id="rId13"/>
    <p:sldId id="320" r:id="rId14"/>
    <p:sldId id="321" r:id="rId15"/>
    <p:sldId id="317" r:id="rId16"/>
    <p:sldId id="314" r:id="rId17"/>
    <p:sldId id="298" r:id="rId18"/>
    <p:sldId id="315" r:id="rId19"/>
    <p:sldId id="316" r:id="rId20"/>
    <p:sldId id="297" r:id="rId21"/>
    <p:sldId id="296" r:id="rId22"/>
    <p:sldId id="302" r:id="rId23"/>
    <p:sldId id="309" r:id="rId24"/>
    <p:sldId id="312" r:id="rId25"/>
    <p:sldId id="277" r:id="rId26"/>
    <p:sldId id="285" r:id="rId2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434"/>
    <a:srgbClr val="5BC1FF"/>
    <a:srgbClr val="104282"/>
    <a:srgbClr val="0B387C"/>
    <a:srgbClr val="0055A0"/>
    <a:srgbClr val="0C37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10"/>
  </p:normalViewPr>
  <p:slideViewPr>
    <p:cSldViewPr snapToGrid="0" snapToObjects="1">
      <p:cViewPr varScale="1">
        <p:scale>
          <a:sx n="108" d="100"/>
          <a:sy n="108" d="100"/>
        </p:scale>
        <p:origin x="744" y="86"/>
      </p:cViewPr>
      <p:guideLst>
        <p:guide orient="horz" pos="1620"/>
        <p:guide pos="288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89050A-C468-4DE9-AE7F-8BFB872F96FA}"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CA5D24-EA41-4BCC-8A42-F3EDACA79E70}" type="slidenum">
              <a:rPr lang="en-US" smtClean="0"/>
              <a:t>‹#›</a:t>
            </a:fld>
            <a:endParaRPr lang="en-US"/>
          </a:p>
        </p:txBody>
      </p:sp>
    </p:spTree>
    <p:extLst>
      <p:ext uri="{BB962C8B-B14F-4D97-AF65-F5344CB8AC3E}">
        <p14:creationId xmlns:p14="http://schemas.microsoft.com/office/powerpoint/2010/main" val="2748869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566617393"/>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2426265440"/>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1897556607"/>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C85AEE0-09D6-40A0-A821-615A81DF2C32}" type="datetime1">
              <a:rPr lang="en-US" smtClean="0"/>
              <a:t>11/18/2025</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314304791"/>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C85AEE0-09D6-40A0-A821-615A81DF2C32}" type="datetime1">
              <a:rPr lang="en-US" smtClean="0"/>
              <a:t>11/18/2025</a:t>
            </a:fld>
            <a:endParaRPr lang="en-US" dirty="0"/>
          </a:p>
        </p:txBody>
      </p:sp>
      <p:sp>
        <p:nvSpPr>
          <p:cNvPr id="8" name="Footer Placeholder 7"/>
          <p:cNvSpPr>
            <a:spLocks noGrp="1"/>
          </p:cNvSpPr>
          <p:nvPr>
            <p:ph type="ftr" sz="quarter" idx="11"/>
          </p:nvPr>
        </p:nvSpPr>
        <p:spPr/>
        <p:txBody>
          <a:bodyPr/>
          <a:lstStyle/>
          <a:p>
            <a:r>
              <a:rPr lang="en-US" smtClean="0"/>
              <a:t> </a:t>
            </a:r>
            <a:endParaRPr lang="en-US" dirty="0"/>
          </a:p>
        </p:txBody>
      </p:sp>
      <p:sp>
        <p:nvSpPr>
          <p:cNvPr id="9" name="Slide Number Placeholder 8"/>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87114332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3"/>
          <p:cNvSpPr>
            <a:spLocks noGrp="1"/>
          </p:cNvSpPr>
          <p:nvPr>
            <p:ph type="ftr" sz="quarter" idx="11"/>
          </p:nvPr>
        </p:nvSpPr>
        <p:spPr/>
        <p:txBody>
          <a:bodyPr/>
          <a:lstStyle/>
          <a:p>
            <a:r>
              <a:rPr lang="en-US" smtClean="0"/>
              <a:t> </a:t>
            </a:r>
            <a:endParaRPr lang="en-US" dirty="0"/>
          </a:p>
        </p:txBody>
      </p:sp>
      <p:sp>
        <p:nvSpPr>
          <p:cNvPr id="6" name="Slide Number Placeholder 4"/>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3714361136"/>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2"/>
          <p:cNvSpPr>
            <a:spLocks noGrp="1"/>
          </p:cNvSpPr>
          <p:nvPr>
            <p:ph type="ftr" sz="quarter" idx="11"/>
          </p:nvPr>
        </p:nvSpPr>
        <p:spPr/>
        <p:txBody>
          <a:bodyPr/>
          <a:lstStyle/>
          <a:p>
            <a:r>
              <a:rPr lang="en-US" smtClean="0"/>
              <a:t> </a:t>
            </a:r>
            <a:endParaRPr lang="en-US" dirty="0"/>
          </a:p>
        </p:txBody>
      </p:sp>
      <p:sp>
        <p:nvSpPr>
          <p:cNvPr id="6" name="Slide Number Placeholder 3"/>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3759905225"/>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7" name="Date Placeholder 4"/>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5"/>
          <p:cNvSpPr>
            <a:spLocks noGrp="1"/>
          </p:cNvSpPr>
          <p:nvPr>
            <p:ph type="ftr" sz="quarter" idx="11"/>
          </p:nvPr>
        </p:nvSpPr>
        <p:spPr/>
        <p:txBody>
          <a:bodyPr/>
          <a:lstStyle/>
          <a:p>
            <a:r>
              <a:rPr lang="en-US" smtClean="0"/>
              <a:t> </a:t>
            </a:r>
            <a:endParaRPr lang="en-US" dirty="0"/>
          </a:p>
        </p:txBody>
      </p:sp>
      <p:sp>
        <p:nvSpPr>
          <p:cNvPr id="6" name="Slide Number Placeholder 6"/>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588734187"/>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3C85AEE0-09D6-40A0-A821-615A81DF2C32}" type="datetime1">
              <a:rPr lang="en-US" smtClean="0"/>
              <a:t>11/18/2025</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276567799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3C85AEE0-09D6-40A0-A821-615A81DF2C32}" type="datetime1">
              <a:rPr lang="en-US" smtClean="0"/>
              <a:t>11/18/2025</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127439146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4"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346354343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smtClean="0"/>
              <a:t>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4"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2939095699"/>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1855896561"/>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smtClean="0"/>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4"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3128632172"/>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smtClean="0"/>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4"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1804567511"/>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2016290674"/>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C85AEE0-09D6-40A0-A821-615A81DF2C32}" type="datetime1">
              <a:rPr lang="en-US" smtClean="0"/>
              <a:t>11/18/2025</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2420091884"/>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833611"/>
            <a:ext cx="8226854" cy="705332"/>
          </a:xfrm>
        </p:spPr>
        <p:txBody>
          <a:bodyPr/>
          <a:lstStyle>
            <a:lvl1pPr algn="l">
              <a:defRPr/>
            </a:lvl1pPr>
          </a:lstStyle>
          <a:p>
            <a:r>
              <a:rPr kumimoji="0" lang="fr-CH"/>
              <a:t>Click to edit Master title style</a:t>
            </a:r>
            <a:endParaRPr kumimoji="0" lang="en-US"/>
          </a:p>
        </p:txBody>
      </p:sp>
      <p:sp>
        <p:nvSpPr>
          <p:cNvPr id="7" name="Date Placeholder 1"/>
          <p:cNvSpPr>
            <a:spLocks noGrp="1"/>
          </p:cNvSpPr>
          <p:nvPr>
            <p:ph type="dt" sz="half" idx="2"/>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ED61940-B217-4A05-9881-292B04D235E9}" type="datetime1">
              <a:rPr lang="en-US" smtClean="0"/>
              <a:t>11/18/2025</a:t>
            </a:fld>
            <a:endParaRPr lang="en-US" dirty="0"/>
          </a:p>
        </p:txBody>
      </p:sp>
      <p:sp>
        <p:nvSpPr>
          <p:cNvPr id="8" name="Footer Placeholder 2"/>
          <p:cNvSpPr>
            <a:spLocks noGrp="1"/>
          </p:cNvSpPr>
          <p:nvPr>
            <p:ph type="ftr" sz="quarter" idx="3"/>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9" name="Slide Number Placeholder 3"/>
          <p:cNvSpPr>
            <a:spLocks noGrp="1"/>
          </p:cNvSpPr>
          <p:nvPr>
            <p:ph type="sldNum" sz="quarter" idx="4"/>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
        <p:nvSpPr>
          <p:cNvPr id="11" name="Espace réservé du texte 2"/>
          <p:cNvSpPr>
            <a:spLocks noGrp="1"/>
          </p:cNvSpPr>
          <p:nvPr>
            <p:ph type="body" idx="10"/>
          </p:nvPr>
        </p:nvSpPr>
        <p:spPr>
          <a:xfrm>
            <a:off x="457200" y="2543343"/>
            <a:ext cx="2743200" cy="31474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fr-CH"/>
              <a:t>Click to edit Master text styles</a:t>
            </a:r>
          </a:p>
        </p:txBody>
      </p:sp>
    </p:spTree>
    <p:extLst>
      <p:ext uri="{BB962C8B-B14F-4D97-AF65-F5344CB8AC3E}">
        <p14:creationId xmlns:p14="http://schemas.microsoft.com/office/powerpoint/2010/main" val="9659522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Diapositive de titre">
    <p:bg>
      <p:bgPr>
        <a:solidFill>
          <a:srgbClr val="104282"/>
        </a:solidFill>
        <a:effectLst/>
      </p:bgPr>
    </p:bg>
    <p:spTree>
      <p:nvGrpSpPr>
        <p:cNvPr id="1" name=""/>
        <p:cNvGrpSpPr/>
        <p:nvPr/>
      </p:nvGrpSpPr>
      <p:grpSpPr>
        <a:xfrm>
          <a:off x="0" y="0"/>
          <a:ext cx="0" cy="0"/>
          <a:chOff x="0" y="0"/>
          <a:chExt cx="0" cy="0"/>
        </a:xfrm>
      </p:grpSpPr>
      <p:pic>
        <p:nvPicPr>
          <p:cNvPr id="3" name="Image 2" descr="logooutline.eps"/>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309355" y="1327799"/>
            <a:ext cx="2520000" cy="2494674"/>
          </a:xfrm>
          <a:prstGeom prst="rect">
            <a:avLst/>
          </a:prstGeom>
        </p:spPr>
      </p:pic>
    </p:spTree>
    <p:extLst>
      <p:ext uri="{BB962C8B-B14F-4D97-AF65-F5344CB8AC3E}">
        <p14:creationId xmlns:p14="http://schemas.microsoft.com/office/powerpoint/2010/main" val="870962966"/>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_Diapositive de titre">
    <p:bg>
      <p:bgPr>
        <a:solidFill>
          <a:srgbClr val="104282"/>
        </a:solidFill>
        <a:effectLst/>
      </p:bgPr>
    </p:bg>
    <p:spTree>
      <p:nvGrpSpPr>
        <p:cNvPr id="1" name=""/>
        <p:cNvGrpSpPr/>
        <p:nvPr/>
      </p:nvGrpSpPr>
      <p:grpSpPr>
        <a:xfrm>
          <a:off x="0" y="0"/>
          <a:ext cx="0" cy="0"/>
          <a:chOff x="0" y="0"/>
          <a:chExt cx="0" cy="0"/>
        </a:xfrm>
      </p:grpSpPr>
      <p:sp>
        <p:nvSpPr>
          <p:cNvPr id="3" name="Espace réservé du titre 8"/>
          <p:cNvSpPr>
            <a:spLocks noGrp="1"/>
          </p:cNvSpPr>
          <p:nvPr>
            <p:ph type="title" hasCustomPrompt="1"/>
          </p:nvPr>
        </p:nvSpPr>
        <p:spPr>
          <a:xfrm>
            <a:off x="457200" y="4616450"/>
            <a:ext cx="8226854" cy="226402"/>
          </a:xfrm>
          <a:prstGeom prst="rect">
            <a:avLst/>
          </a:prstGeom>
        </p:spPr>
        <p:txBody>
          <a:bodyPr vert="horz" lIns="45720" rIns="45720" anchor="ctr">
            <a:noAutofit/>
          </a:bodyPr>
          <a:lstStyle>
            <a:lvl1pPr algn="ctr">
              <a:defRPr sz="1400">
                <a:latin typeface="Optima"/>
                <a:cs typeface="Optima"/>
              </a:defRPr>
            </a:lvl1pPr>
          </a:lstStyle>
          <a:p>
            <a:r>
              <a:rPr kumimoji="0" lang="fr-CH" dirty="0"/>
              <a:t>home.cern</a:t>
            </a:r>
            <a:endParaRPr kumimoji="0" lang="en-US" dirty="0"/>
          </a:p>
        </p:txBody>
      </p:sp>
      <p:pic>
        <p:nvPicPr>
          <p:cNvPr id="6" name="Image 2" descr="logooutline.eps"/>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799171" y="1806688"/>
            <a:ext cx="1545657" cy="1530123"/>
          </a:xfrm>
          <a:prstGeom prst="rect">
            <a:avLst/>
          </a:prstGeom>
        </p:spPr>
      </p:pic>
    </p:spTree>
    <p:extLst>
      <p:ext uri="{BB962C8B-B14F-4D97-AF65-F5344CB8AC3E}">
        <p14:creationId xmlns:p14="http://schemas.microsoft.com/office/powerpoint/2010/main" val="3989461210"/>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5_Diapositive de titre">
    <p:bg>
      <p:bgPr>
        <a:solidFill>
          <a:schemeClr val="tx1"/>
        </a:solidFill>
        <a:effectLst/>
      </p:bgPr>
    </p:bg>
    <p:spTree>
      <p:nvGrpSpPr>
        <p:cNvPr id="1" name=""/>
        <p:cNvGrpSpPr/>
        <p:nvPr/>
      </p:nvGrpSpPr>
      <p:grpSpPr>
        <a:xfrm>
          <a:off x="0" y="0"/>
          <a:ext cx="0" cy="0"/>
          <a:chOff x="0" y="0"/>
          <a:chExt cx="0" cy="0"/>
        </a:xfrm>
      </p:grpSpPr>
      <p:pic>
        <p:nvPicPr>
          <p:cNvPr id="3" name="Picture 1" descr="LogoOutline.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12000" y="1315400"/>
            <a:ext cx="2520000" cy="2520000"/>
          </a:xfrm>
          <a:prstGeom prst="rect">
            <a:avLst/>
          </a:prstGeom>
        </p:spPr>
      </p:pic>
    </p:spTree>
    <p:extLst>
      <p:ext uri="{BB962C8B-B14F-4D97-AF65-F5344CB8AC3E}">
        <p14:creationId xmlns:p14="http://schemas.microsoft.com/office/powerpoint/2010/main" val="2005918618"/>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6_Diapositive de titre">
    <p:bg>
      <p:bgRef idx="1001">
        <a:schemeClr val="bg1"/>
      </p:bgRef>
    </p:bg>
    <p:spTree>
      <p:nvGrpSpPr>
        <p:cNvPr id="1" name=""/>
        <p:cNvGrpSpPr/>
        <p:nvPr/>
      </p:nvGrpSpPr>
      <p:grpSpPr>
        <a:xfrm>
          <a:off x="0" y="0"/>
          <a:ext cx="0" cy="0"/>
          <a:chOff x="0" y="0"/>
          <a:chExt cx="0" cy="0"/>
        </a:xfrm>
      </p:grpSpPr>
      <p:pic>
        <p:nvPicPr>
          <p:cNvPr id="3" name="Image 2" descr="logoBadgeWeb.eps"/>
          <p:cNvPicPr>
            <a:picLocks noChangeAspect="1"/>
          </p:cNvPicPr>
          <p:nvPr userDrawn="1"/>
        </p:nvPicPr>
        <p:blipFill rotWithShape="1">
          <a:blip r:embed="rId2" cstate="email">
            <a:extLst>
              <a:ext uri="{28A0092B-C50C-407E-A947-70E740481C1C}">
                <a14:useLocalDpi xmlns:a14="http://schemas.microsoft.com/office/drawing/2010/main" val="0"/>
              </a:ext>
            </a:extLst>
          </a:blip>
          <a:srcRect b="17835"/>
          <a:stretch/>
        </p:blipFill>
        <p:spPr>
          <a:xfrm>
            <a:off x="3959440" y="1940784"/>
            <a:ext cx="1221946" cy="1261931"/>
          </a:xfrm>
          <a:prstGeom prst="rect">
            <a:avLst/>
          </a:prstGeom>
        </p:spPr>
      </p:pic>
      <p:sp>
        <p:nvSpPr>
          <p:cNvPr id="4" name="Espace réservé du titre 8"/>
          <p:cNvSpPr>
            <a:spLocks noGrp="1"/>
          </p:cNvSpPr>
          <p:nvPr>
            <p:ph type="title" hasCustomPrompt="1"/>
          </p:nvPr>
        </p:nvSpPr>
        <p:spPr>
          <a:xfrm>
            <a:off x="457200" y="4616450"/>
            <a:ext cx="8226854" cy="226402"/>
          </a:xfrm>
          <a:prstGeom prst="rect">
            <a:avLst/>
          </a:prstGeom>
        </p:spPr>
        <p:txBody>
          <a:bodyPr vert="horz" lIns="45720" rIns="45720" anchor="ctr">
            <a:noAutofit/>
          </a:bodyPr>
          <a:lstStyle>
            <a:lvl1pPr algn="ctr">
              <a:defRPr sz="1400">
                <a:latin typeface="Optima"/>
                <a:cs typeface="Optima"/>
              </a:defRPr>
            </a:lvl1pPr>
          </a:lstStyle>
          <a:p>
            <a:r>
              <a:rPr kumimoji="0" lang="fr-CH" dirty="0"/>
              <a:t>home.cern</a:t>
            </a:r>
            <a:endParaRPr kumimoji="0" lang="en-US" dirty="0"/>
          </a:p>
        </p:txBody>
      </p:sp>
    </p:spTree>
    <p:extLst>
      <p:ext uri="{BB962C8B-B14F-4D97-AF65-F5344CB8AC3E}">
        <p14:creationId xmlns:p14="http://schemas.microsoft.com/office/powerpoint/2010/main" val="280332507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2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833611"/>
            <a:ext cx="8226854" cy="705332"/>
          </a:xfrm>
        </p:spPr>
        <p:txBody>
          <a:bodyPr/>
          <a:lstStyle>
            <a:lvl1pPr algn="l">
              <a:defRPr/>
            </a:lvl1pPr>
          </a:lstStyle>
          <a:p>
            <a:r>
              <a:rPr kumimoji="0" lang="fr-CH"/>
              <a:t>Click to edit Master title style</a:t>
            </a:r>
            <a:endParaRPr kumimoji="0" lang="en-US"/>
          </a:p>
        </p:txBody>
      </p:sp>
      <p:sp>
        <p:nvSpPr>
          <p:cNvPr id="11" name="Espace réservé du texte 2"/>
          <p:cNvSpPr>
            <a:spLocks noGrp="1"/>
          </p:cNvSpPr>
          <p:nvPr>
            <p:ph type="body" idx="10"/>
          </p:nvPr>
        </p:nvSpPr>
        <p:spPr>
          <a:xfrm>
            <a:off x="457200" y="2543343"/>
            <a:ext cx="2743200" cy="31474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fr-CH"/>
              <a:t>Click to edit Master text styles</a:t>
            </a:r>
          </a:p>
        </p:txBody>
      </p:sp>
    </p:spTree>
    <p:extLst>
      <p:ext uri="{BB962C8B-B14F-4D97-AF65-F5344CB8AC3E}">
        <p14:creationId xmlns:p14="http://schemas.microsoft.com/office/powerpoint/2010/main" val="20576372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04788"/>
            <a:ext cx="8229600" cy="670483"/>
          </a:xfrm>
        </p:spPr>
        <p:txBody>
          <a:bodyPr anchor="ctr"/>
          <a:lstStyle>
            <a:lvl1pPr>
              <a:defRPr/>
            </a:lvl1pPr>
          </a:lstStyle>
          <a:p>
            <a:r>
              <a:rPr kumimoji="0" lang="fr-CH"/>
              <a:t>Click to edit Master title style</a:t>
            </a:r>
            <a:endParaRPr kumimoji="0" lang="en-US"/>
          </a:p>
        </p:txBody>
      </p:sp>
      <p:sp>
        <p:nvSpPr>
          <p:cNvPr id="4" name="Espace réservé du texte 3"/>
          <p:cNvSpPr>
            <a:spLocks noGrp="1"/>
          </p:cNvSpPr>
          <p:nvPr>
            <p:ph type="body" sz="half" idx="3"/>
          </p:nvPr>
        </p:nvSpPr>
        <p:spPr>
          <a:xfrm>
            <a:off x="455613" y="3826475"/>
            <a:ext cx="8231187" cy="447075"/>
          </a:xfrm>
        </p:spPr>
        <p:txBody>
          <a:bodyPr anchor="t"/>
          <a:lstStyle>
            <a:lvl1pPr marL="0" indent="0">
              <a:buNone/>
              <a:defRPr sz="2400" b="1">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CH"/>
              <a:t>Click to edit Master text styles</a:t>
            </a:r>
          </a:p>
        </p:txBody>
      </p:sp>
      <p:sp>
        <p:nvSpPr>
          <p:cNvPr id="5" name="Espace réservé du contenu 4"/>
          <p:cNvSpPr>
            <a:spLocks noGrp="1"/>
          </p:cNvSpPr>
          <p:nvPr>
            <p:ph sz="quarter" idx="2"/>
          </p:nvPr>
        </p:nvSpPr>
        <p:spPr>
          <a:xfrm>
            <a:off x="457200" y="952333"/>
            <a:ext cx="4040188" cy="2764991"/>
          </a:xfrm>
        </p:spPr>
        <p:txBody>
          <a:bodyPr/>
          <a:lstStyle>
            <a:lvl1pPr>
              <a:defRPr sz="2400"/>
            </a:lvl1pPr>
            <a:lvl2pPr>
              <a:defRPr sz="2000"/>
            </a:lvl2pPr>
            <a:lvl3pPr>
              <a:defRPr sz="1800"/>
            </a:lvl3pPr>
            <a:lvl4pPr>
              <a:defRPr sz="1600"/>
            </a:lvl4pPr>
            <a:lvl5pPr>
              <a:defRPr sz="1600"/>
            </a:lvl5pPr>
          </a:lstStyle>
          <a:p>
            <a:pPr lvl="0" eaLnBrk="1" latinLnBrk="0" hangingPunct="1"/>
            <a:r>
              <a:rPr lang="fr-CH"/>
              <a:t>Click to edit Master text styles</a:t>
            </a:r>
          </a:p>
          <a:p>
            <a:pPr lvl="1" eaLnBrk="1" latinLnBrk="0" hangingPunct="1"/>
            <a:r>
              <a:rPr lang="fr-CH"/>
              <a:t>Second level</a:t>
            </a:r>
          </a:p>
          <a:p>
            <a:pPr lvl="2" eaLnBrk="1" latinLnBrk="0" hangingPunct="1"/>
            <a:r>
              <a:rPr lang="fr-CH"/>
              <a:t>Third level</a:t>
            </a:r>
          </a:p>
          <a:p>
            <a:pPr lvl="3" eaLnBrk="1" latinLnBrk="0" hangingPunct="1"/>
            <a:r>
              <a:rPr lang="fr-CH"/>
              <a:t>Fourth level</a:t>
            </a:r>
          </a:p>
          <a:p>
            <a:pPr lvl="4" eaLnBrk="1" latinLnBrk="0" hangingPunct="1"/>
            <a:r>
              <a:rPr lang="fr-CH"/>
              <a:t>Fifth level</a:t>
            </a:r>
            <a:endParaRPr kumimoji="0" lang="en-US" dirty="0"/>
          </a:p>
        </p:txBody>
      </p:sp>
      <p:sp>
        <p:nvSpPr>
          <p:cNvPr id="6" name="Espace réservé du contenu 5"/>
          <p:cNvSpPr>
            <a:spLocks noGrp="1"/>
          </p:cNvSpPr>
          <p:nvPr>
            <p:ph sz="quarter" idx="4"/>
          </p:nvPr>
        </p:nvSpPr>
        <p:spPr>
          <a:xfrm>
            <a:off x="4645026" y="952333"/>
            <a:ext cx="4041775" cy="2764991"/>
          </a:xfrm>
        </p:spPr>
        <p:txBody>
          <a:bodyPr/>
          <a:lstStyle>
            <a:lvl1pPr>
              <a:defRPr sz="2400"/>
            </a:lvl1pPr>
            <a:lvl2pPr>
              <a:defRPr sz="2000"/>
            </a:lvl2pPr>
            <a:lvl3pPr>
              <a:defRPr sz="1800"/>
            </a:lvl3pPr>
            <a:lvl4pPr>
              <a:defRPr sz="1600"/>
            </a:lvl4pPr>
            <a:lvl5pPr>
              <a:defRPr sz="1600"/>
            </a:lvl5pPr>
          </a:lstStyle>
          <a:p>
            <a:pPr lvl="0" eaLnBrk="1" latinLnBrk="0" hangingPunct="1"/>
            <a:r>
              <a:rPr lang="fr-CH"/>
              <a:t>Click to edit Master text styles</a:t>
            </a:r>
          </a:p>
          <a:p>
            <a:pPr lvl="1" eaLnBrk="1" latinLnBrk="0" hangingPunct="1"/>
            <a:r>
              <a:rPr lang="fr-CH"/>
              <a:t>Second level</a:t>
            </a:r>
          </a:p>
          <a:p>
            <a:pPr lvl="2" eaLnBrk="1" latinLnBrk="0" hangingPunct="1"/>
            <a:r>
              <a:rPr lang="fr-CH"/>
              <a:t>Third level</a:t>
            </a:r>
          </a:p>
          <a:p>
            <a:pPr lvl="3" eaLnBrk="1" latinLnBrk="0" hangingPunct="1"/>
            <a:r>
              <a:rPr lang="fr-CH"/>
              <a:t>Fourth level</a:t>
            </a:r>
          </a:p>
          <a:p>
            <a:pPr lvl="4" eaLnBrk="1" latinLnBrk="0" hangingPunct="1"/>
            <a:r>
              <a:rPr lang="fr-CH"/>
              <a:t>Fifth level</a:t>
            </a:r>
            <a:endParaRPr kumimoji="0" lang="en-US"/>
          </a:p>
        </p:txBody>
      </p:sp>
      <p:sp>
        <p:nvSpPr>
          <p:cNvPr id="10" name="Date Placeholder 1"/>
          <p:cNvSpPr>
            <a:spLocks noGrp="1"/>
          </p:cNvSpPr>
          <p:nvPr>
            <p:ph type="dt" sz="half" idx="10"/>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507F469-3613-4009-9461-E879D969D2E6}" type="datetime1">
              <a:rPr lang="en-US" smtClean="0"/>
              <a:t>11/18/2025</a:t>
            </a:fld>
            <a:endParaRPr lang="en-US" dirty="0"/>
          </a:p>
        </p:txBody>
      </p:sp>
      <p:sp>
        <p:nvSpPr>
          <p:cNvPr id="11" name="Footer Placeholder 2"/>
          <p:cNvSpPr>
            <a:spLocks noGrp="1"/>
          </p:cNvSpPr>
          <p:nvPr>
            <p:ph type="ftr" sz="quarter" idx="11"/>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12" name="Slide Number Placeholder 3"/>
          <p:cNvSpPr>
            <a:spLocks noGrp="1"/>
          </p:cNvSpPr>
          <p:nvPr>
            <p:ph type="sldNum" sz="quarter" idx="12"/>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_Diapositive de titre">
    <p:bg>
      <p:bgPr>
        <a:solidFill>
          <a:srgbClr val="104282"/>
        </a:solidFill>
        <a:effectLst/>
      </p:bgPr>
    </p:bg>
    <p:spTree>
      <p:nvGrpSpPr>
        <p:cNvPr id="1" name=""/>
        <p:cNvGrpSpPr/>
        <p:nvPr/>
      </p:nvGrpSpPr>
      <p:grpSpPr>
        <a:xfrm>
          <a:off x="0" y="0"/>
          <a:ext cx="0" cy="0"/>
          <a:chOff x="0" y="0"/>
          <a:chExt cx="0" cy="0"/>
        </a:xfrm>
      </p:grpSpPr>
      <p:sp>
        <p:nvSpPr>
          <p:cNvPr id="3" name="Espace réservé du titre 8"/>
          <p:cNvSpPr>
            <a:spLocks noGrp="1"/>
          </p:cNvSpPr>
          <p:nvPr>
            <p:ph type="title" hasCustomPrompt="1"/>
          </p:nvPr>
        </p:nvSpPr>
        <p:spPr>
          <a:xfrm>
            <a:off x="457200" y="4616450"/>
            <a:ext cx="8226854" cy="226402"/>
          </a:xfrm>
          <a:prstGeom prst="rect">
            <a:avLst/>
          </a:prstGeom>
        </p:spPr>
        <p:txBody>
          <a:bodyPr vert="horz" lIns="45720" rIns="45720" anchor="ctr">
            <a:noAutofit/>
          </a:bodyPr>
          <a:lstStyle>
            <a:lvl1pPr algn="ctr">
              <a:defRPr sz="1400">
                <a:latin typeface="Optima"/>
                <a:cs typeface="Optima"/>
              </a:defRPr>
            </a:lvl1pPr>
          </a:lstStyle>
          <a:p>
            <a:r>
              <a:rPr kumimoji="0" lang="fr-CH" dirty="0"/>
              <a:t>home.cern</a:t>
            </a:r>
            <a:endParaRPr kumimoji="0" lang="en-US" dirty="0"/>
          </a:p>
        </p:txBody>
      </p:sp>
      <p:pic>
        <p:nvPicPr>
          <p:cNvPr id="5" name="Image 2" descr="logooutline.eps"/>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799171" y="1806688"/>
            <a:ext cx="1545657" cy="1530123"/>
          </a:xfrm>
          <a:prstGeom prst="rect">
            <a:avLst/>
          </a:prstGeom>
        </p:spPr>
      </p:pic>
    </p:spTree>
    <p:extLst>
      <p:ext uri="{BB962C8B-B14F-4D97-AF65-F5344CB8AC3E}">
        <p14:creationId xmlns:p14="http://schemas.microsoft.com/office/powerpoint/2010/main" val="135684979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 Id="rId30"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7">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8">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9">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30">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3C85AEE0-09D6-40A0-A821-615A81DF2C32}" type="datetime1">
              <a:rPr lang="en-US" smtClean="0"/>
              <a:t>11/18/2025</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r>
              <a:rPr lang="en-US" smtClean="0"/>
              <a:t> </a:t>
            </a:r>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75072965"/>
      </p:ext>
    </p:extLst>
  </p:cSld>
  <p:clrMap bg1="dk1" tx1="lt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676" r:id="rId20"/>
    <p:sldLayoutId id="2147483677" r:id="rId21"/>
    <p:sldLayoutId id="2147483678" r:id="rId22"/>
    <p:sldLayoutId id="2147483680" r:id="rId23"/>
    <p:sldLayoutId id="2147483665" r:id="rId24"/>
    <p:sldLayoutId id="2147483674" r:id="rId25"/>
  </p:sldLayoutIdLst>
  <p:hf hdr="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Vmt0V6a3ppE&amp;t=36s" TargetMode="External"/><Relationship Id="rId2" Type="http://schemas.openxmlformats.org/officeDocument/2006/relationships/hyperlink" Target="https://git-scm.com/%E2%80%8B" TargetMode="External"/><Relationship Id="rId1" Type="http://schemas.openxmlformats.org/officeDocument/2006/relationships/slideLayout" Target="../slideLayouts/slideLayout4.xml"/><Relationship Id="rId5" Type="http://schemas.openxmlformats.org/officeDocument/2006/relationships/hyperlink" Target="https://www.youtube.com/watch?v=iXuIp5uNnLk&amp;t=22s" TargetMode="External"/><Relationship Id="rId4" Type="http://schemas.openxmlformats.org/officeDocument/2006/relationships/hyperlink" Target="https://www.youtube.com/watch?v=_qDJ0W1wR5w&amp;t=33s"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mailto:Imsherlocked@gmail.com"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9A00F1A-68C3-CA80-AA9E-3E7B1DE2DF09}"/>
              </a:ext>
            </a:extLst>
          </p:cNvPr>
          <p:cNvSpPr>
            <a:spLocks noGrp="1"/>
          </p:cNvSpPr>
          <p:nvPr>
            <p:ph type="title"/>
          </p:nvPr>
        </p:nvSpPr>
        <p:spPr>
          <a:xfrm>
            <a:off x="446049" y="97873"/>
            <a:ext cx="7467600" cy="857250"/>
          </a:xfrm>
        </p:spPr>
        <p:txBody>
          <a:bodyPr>
            <a:normAutofit/>
          </a:bodyPr>
          <a:lstStyle/>
          <a:p>
            <a:r>
              <a:rPr lang="en-US" sz="4000" dirty="0"/>
              <a:t>Outline</a:t>
            </a:r>
          </a:p>
        </p:txBody>
      </p:sp>
      <p:sp>
        <p:nvSpPr>
          <p:cNvPr id="5" name="Date Placeholder 4">
            <a:extLst>
              <a:ext uri="{FF2B5EF4-FFF2-40B4-BE49-F238E27FC236}">
                <a16:creationId xmlns:a16="http://schemas.microsoft.com/office/drawing/2014/main" id="{6FFCE4CD-EC0A-4F8B-BBD2-7D6380806BC7}"/>
              </a:ext>
            </a:extLst>
          </p:cNvPr>
          <p:cNvSpPr>
            <a:spLocks noGrp="1"/>
          </p:cNvSpPr>
          <p:nvPr>
            <p:ph type="dt" sz="half" idx="10"/>
          </p:nvPr>
        </p:nvSpPr>
        <p:spPr/>
        <p:txBody>
          <a:bodyPr/>
          <a:lstStyle/>
          <a:p>
            <a:fld id="{9B7CB608-4184-40E5-8F28-B675BAE5ACCA}" type="datetime1">
              <a:rPr lang="en-US" smtClean="0"/>
              <a:t>11/18/2025</a:t>
            </a:fld>
            <a:endParaRPr lang="en-US" dirty="0"/>
          </a:p>
        </p:txBody>
      </p:sp>
      <p:sp>
        <p:nvSpPr>
          <p:cNvPr id="6" name="Footer Placeholder 5">
            <a:extLst>
              <a:ext uri="{FF2B5EF4-FFF2-40B4-BE49-F238E27FC236}">
                <a16:creationId xmlns:a16="http://schemas.microsoft.com/office/drawing/2014/main" id="{C5553EC9-8210-4B0F-B322-4C0B267D66A3}"/>
              </a:ext>
            </a:extLst>
          </p:cNvPr>
          <p:cNvSpPr>
            <a:spLocks noGrp="1"/>
          </p:cNvSpPr>
          <p:nvPr>
            <p:ph type="ftr" sz="quarter" idx="4294967295"/>
          </p:nvPr>
        </p:nvSpPr>
        <p:spPr>
          <a:xfrm>
            <a:off x="6248400" y="4767263"/>
            <a:ext cx="2895600" cy="274637"/>
          </a:xfrm>
        </p:spPr>
        <p:txBody>
          <a:bodyPr/>
          <a:lstStyle/>
          <a:p>
            <a:r>
              <a:rPr lang="en-US" dirty="0"/>
              <a:t> </a:t>
            </a:r>
          </a:p>
        </p:txBody>
      </p:sp>
      <p:sp>
        <p:nvSpPr>
          <p:cNvPr id="7" name="Slide Number Placeholder 6">
            <a:extLst>
              <a:ext uri="{FF2B5EF4-FFF2-40B4-BE49-F238E27FC236}">
                <a16:creationId xmlns:a16="http://schemas.microsoft.com/office/drawing/2014/main" id="{51284095-A969-4C6A-AAAE-493B547FE0ED}"/>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a:t>
            </a:fld>
            <a:endParaRPr lang="en-US" dirty="0"/>
          </a:p>
        </p:txBody>
      </p:sp>
      <p:sp>
        <p:nvSpPr>
          <p:cNvPr id="13" name="TextBox 12">
            <a:extLst>
              <a:ext uri="{FF2B5EF4-FFF2-40B4-BE49-F238E27FC236}">
                <a16:creationId xmlns:a16="http://schemas.microsoft.com/office/drawing/2014/main" id="{CA111A58-9993-4275-81BE-EE8D497706AE}"/>
              </a:ext>
            </a:extLst>
          </p:cNvPr>
          <p:cNvSpPr txBox="1"/>
          <p:nvPr/>
        </p:nvSpPr>
        <p:spPr>
          <a:xfrm>
            <a:off x="3102769" y="190086"/>
            <a:ext cx="5595182" cy="446276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What is Git and </a:t>
            </a:r>
            <a:r>
              <a:rPr lang="en-US" sz="2400" dirty="0" smtClean="0"/>
              <a:t>version control?</a:t>
            </a:r>
            <a:endParaRPr lang="en-US" sz="2400" dirty="0"/>
          </a:p>
          <a:p>
            <a:pPr marL="342900" indent="-342900" algn="just">
              <a:buFont typeface="Arial" panose="020B0604020202020204" pitchFamily="34" charset="0"/>
              <a:buChar char="•"/>
            </a:pPr>
            <a:r>
              <a:rPr lang="en-US" sz="2400" dirty="0"/>
              <a:t>How to download Git?</a:t>
            </a:r>
          </a:p>
          <a:p>
            <a:pPr marL="342900" indent="-342900" algn="just">
              <a:buFont typeface="Arial" panose="020B0604020202020204" pitchFamily="34" charset="0"/>
              <a:buChar char="•"/>
            </a:pPr>
            <a:r>
              <a:rPr lang="en-US" sz="2400" dirty="0"/>
              <a:t>Setting up Git</a:t>
            </a:r>
          </a:p>
          <a:p>
            <a:pPr marL="342900" indent="-342900" algn="just">
              <a:buFont typeface="Arial" panose="020B0604020202020204" pitchFamily="34" charset="0"/>
              <a:buChar char="•"/>
            </a:pPr>
            <a:r>
              <a:rPr lang="en-US" sz="2400" dirty="0"/>
              <a:t>Creating a Repo</a:t>
            </a:r>
          </a:p>
          <a:p>
            <a:pPr marL="342900" indent="-342900" algn="just">
              <a:buFont typeface="Arial" panose="020B0604020202020204" pitchFamily="34" charset="0"/>
              <a:buChar char="•"/>
            </a:pPr>
            <a:r>
              <a:rPr lang="en-US" sz="2400" dirty="0"/>
              <a:t>How does Git work?</a:t>
            </a:r>
          </a:p>
          <a:p>
            <a:pPr marL="342900" indent="-342900" algn="just">
              <a:buFont typeface="Arial" panose="020B0604020202020204" pitchFamily="34" charset="0"/>
              <a:buChar char="•"/>
            </a:pPr>
            <a:r>
              <a:rPr lang="en-US" sz="2400" dirty="0"/>
              <a:t>Git Unstage files and Tracking Changes</a:t>
            </a:r>
          </a:p>
          <a:p>
            <a:pPr marL="342900" indent="-342900" algn="just">
              <a:buFont typeface="Arial" panose="020B0604020202020204" pitchFamily="34" charset="0"/>
              <a:buChar char="•"/>
            </a:pPr>
            <a:r>
              <a:rPr lang="en-US" sz="2400" dirty="0"/>
              <a:t>Committing a folder, Deleting, Ignore</a:t>
            </a:r>
          </a:p>
          <a:p>
            <a:pPr marL="342900" indent="-342900" algn="just">
              <a:buFont typeface="Arial" panose="020B0604020202020204" pitchFamily="34" charset="0"/>
              <a:buChar char="•"/>
            </a:pPr>
            <a:r>
              <a:rPr lang="en-US" sz="2400" dirty="0"/>
              <a:t>Git Branch, Merges &amp; Conflicts</a:t>
            </a:r>
          </a:p>
          <a:p>
            <a:pPr marL="342900" indent="-342900" algn="just">
              <a:buFont typeface="Arial" panose="020B0604020202020204" pitchFamily="34" charset="0"/>
              <a:buChar char="•"/>
            </a:pPr>
            <a:r>
              <a:rPr lang="en-US" sz="2400" dirty="0"/>
              <a:t>Remotes in CERN Gitlab</a:t>
            </a:r>
          </a:p>
          <a:p>
            <a:pPr marL="342900" indent="-342900" algn="just">
              <a:buFont typeface="Arial" panose="020B0604020202020204" pitchFamily="34" charset="0"/>
              <a:buChar char="•"/>
            </a:pPr>
            <a:r>
              <a:rPr lang="en-US" sz="2400" dirty="0"/>
              <a:t>Gitlab CI</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2513299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VERSION CONTROL</a:t>
            </a:r>
            <a:endParaRPr lang="en-IN" dirty="0"/>
          </a:p>
        </p:txBody>
      </p:sp>
      <p:sp>
        <p:nvSpPr>
          <p:cNvPr id="3" name="Content Placeholder 2"/>
          <p:cNvSpPr>
            <a:spLocks noGrp="1"/>
          </p:cNvSpPr>
          <p:nvPr>
            <p:ph sz="half" idx="1"/>
          </p:nvPr>
        </p:nvSpPr>
        <p:spPr/>
        <p:txBody>
          <a:bodyPr>
            <a:normAutofit lnSpcReduction="10000"/>
          </a:bodyPr>
          <a:lstStyle/>
          <a:p>
            <a:r>
              <a:rPr lang="en-US" dirty="0"/>
              <a:t>Version control is the practice of tracking and managing changes to files over time, often used in software development to manage source code. It allows multiple people to collaborate on a project by recording every modification, so team members can see who made a change, when, and can revert to a previous version if necessary. Version control systems (VCS) provide a safety net against accidental loss of data and streamline workflows, especially for complex projects</a:t>
            </a:r>
            <a:endParaRPr lang="en-IN" dirty="0"/>
          </a:p>
        </p:txBody>
      </p:sp>
      <p:sp>
        <p:nvSpPr>
          <p:cNvPr id="5" name="Date Placeholder 4"/>
          <p:cNvSpPr>
            <a:spLocks noGrp="1"/>
          </p:cNvSpPr>
          <p:nvPr>
            <p:ph type="dt" sz="half" idx="10"/>
          </p:nvPr>
        </p:nvSpPr>
        <p:spPr/>
        <p:txBody>
          <a:bodyPr/>
          <a:lstStyle/>
          <a:p>
            <a:fld id="{3C85AEE0-09D6-40A0-A821-615A81DF2C32}" type="datetime1">
              <a:rPr lang="en-US" smtClean="0"/>
              <a:t>11/18/2025</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17918391-D411-FE40-AAD7-861AE5233E0E}" type="slidenum">
              <a:rPr lang="en-US" smtClean="0"/>
              <a:pPr/>
              <a:t>2</a:t>
            </a:fld>
            <a:endParaRPr lang="en-US" dirty="0"/>
          </a:p>
        </p:txBody>
      </p:sp>
      <p:pic>
        <p:nvPicPr>
          <p:cNvPr id="13" name="Content Placeholder 12"/>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579144" y="1796081"/>
            <a:ext cx="3294761" cy="2192514"/>
          </a:xfrm>
        </p:spPr>
      </p:pic>
    </p:spTree>
    <p:extLst>
      <p:ext uri="{BB962C8B-B14F-4D97-AF65-F5344CB8AC3E}">
        <p14:creationId xmlns:p14="http://schemas.microsoft.com/office/powerpoint/2010/main" val="2994304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A718-6D21-43F0-A80F-463E5199CDE2}"/>
              </a:ext>
            </a:extLst>
          </p:cNvPr>
          <p:cNvSpPr>
            <a:spLocks noGrp="1"/>
          </p:cNvSpPr>
          <p:nvPr>
            <p:ph type="title"/>
          </p:nvPr>
        </p:nvSpPr>
        <p:spPr>
          <a:xfrm>
            <a:off x="881743" y="97873"/>
            <a:ext cx="7052271" cy="705332"/>
          </a:xfrm>
        </p:spPr>
        <p:txBody>
          <a:bodyPr>
            <a:noAutofit/>
          </a:bodyPr>
          <a:lstStyle/>
          <a:p>
            <a:r>
              <a:rPr lang="en-US" sz="4000" dirty="0"/>
              <a:t>What is Git/GitLab/GitHub?</a:t>
            </a:r>
          </a:p>
        </p:txBody>
      </p:sp>
      <p:sp>
        <p:nvSpPr>
          <p:cNvPr id="3" name="Date Placeholder 2">
            <a:extLst>
              <a:ext uri="{FF2B5EF4-FFF2-40B4-BE49-F238E27FC236}">
                <a16:creationId xmlns:a16="http://schemas.microsoft.com/office/drawing/2014/main" id="{23E86185-922A-4D3F-878F-50EE570A5CF1}"/>
              </a:ext>
            </a:extLst>
          </p:cNvPr>
          <p:cNvSpPr>
            <a:spLocks noGrp="1"/>
          </p:cNvSpPr>
          <p:nvPr>
            <p:ph type="dt" sz="half" idx="2"/>
          </p:nvPr>
        </p:nvSpPr>
        <p:spPr/>
        <p:txBody>
          <a:bodyPr/>
          <a:lstStyle/>
          <a:p>
            <a:fld id="{A5ABC17E-279C-4D65-8ACD-3E23DDBA40DF}" type="datetime1">
              <a:rPr lang="en-US" smtClean="0"/>
              <a:t>11/18/2025</a:t>
            </a:fld>
            <a:endParaRPr lang="en-US" dirty="0"/>
          </a:p>
        </p:txBody>
      </p:sp>
      <p:sp>
        <p:nvSpPr>
          <p:cNvPr id="4" name="Footer Placeholder 3">
            <a:extLst>
              <a:ext uri="{FF2B5EF4-FFF2-40B4-BE49-F238E27FC236}">
                <a16:creationId xmlns:a16="http://schemas.microsoft.com/office/drawing/2014/main" id="{D8FC237D-8529-4D58-B81C-44909CCC4766}"/>
              </a:ext>
            </a:extLst>
          </p:cNvPr>
          <p:cNvSpPr>
            <a:spLocks noGrp="1"/>
          </p:cNvSpPr>
          <p:nvPr>
            <p:ph type="ftr" sz="quarter" idx="3"/>
          </p:nvPr>
        </p:nvSpPr>
        <p:spPr/>
        <p:txBody>
          <a:bodyPr/>
          <a:lstStyle/>
          <a:p>
            <a:r>
              <a:rPr lang="en-US" dirty="0"/>
              <a:t> </a:t>
            </a:r>
          </a:p>
        </p:txBody>
      </p:sp>
      <p:sp>
        <p:nvSpPr>
          <p:cNvPr id="5" name="Slide Number Placeholder 4">
            <a:extLst>
              <a:ext uri="{FF2B5EF4-FFF2-40B4-BE49-F238E27FC236}">
                <a16:creationId xmlns:a16="http://schemas.microsoft.com/office/drawing/2014/main" id="{4EF6902C-A591-43CD-8C5A-B813667BA537}"/>
              </a:ext>
            </a:extLst>
          </p:cNvPr>
          <p:cNvSpPr>
            <a:spLocks noGrp="1"/>
          </p:cNvSpPr>
          <p:nvPr>
            <p:ph type="sldNum" sz="quarter" idx="4"/>
          </p:nvPr>
        </p:nvSpPr>
        <p:spPr/>
        <p:txBody>
          <a:bodyPr/>
          <a:lstStyle/>
          <a:p>
            <a:fld id="{17918391-D411-FE40-AAD7-861AE5233E0E}" type="slidenum">
              <a:rPr lang="en-US" smtClean="0"/>
              <a:pPr/>
              <a:t>3</a:t>
            </a:fld>
            <a:endParaRPr lang="en-US" dirty="0"/>
          </a:p>
        </p:txBody>
      </p:sp>
      <p:sp>
        <p:nvSpPr>
          <p:cNvPr id="9" name="Text Placeholder 7">
            <a:extLst>
              <a:ext uri="{FF2B5EF4-FFF2-40B4-BE49-F238E27FC236}">
                <a16:creationId xmlns:a16="http://schemas.microsoft.com/office/drawing/2014/main" id="{D43D28A3-72E7-2814-3C56-554CB1807CA5}"/>
              </a:ext>
            </a:extLst>
          </p:cNvPr>
          <p:cNvSpPr txBox="1">
            <a:spLocks/>
          </p:cNvSpPr>
          <p:nvPr/>
        </p:nvSpPr>
        <p:spPr>
          <a:xfrm>
            <a:off x="587828" y="1014761"/>
            <a:ext cx="3147831" cy="2962266"/>
          </a:xfrm>
          <a:prstGeom prst="rect">
            <a:avLst/>
          </a:prstGeom>
        </p:spPr>
        <p:txBody>
          <a:bodyPr vert="horz" lIns="45720" tIns="0" rIns="45720" bIns="0" anchor="b">
            <a:normAutofit/>
          </a:bodyPr>
          <a:lstStyle>
            <a:lvl1pPr marL="0" indent="0" algn="l" rtl="0" eaLnBrk="1" latinLnBrk="0" hangingPunct="1">
              <a:spcBef>
                <a:spcPct val="20000"/>
              </a:spcBef>
              <a:buClr>
                <a:schemeClr val="tx1"/>
              </a:buClr>
              <a:buSzPct val="80000"/>
              <a:buFont typeface="Arial"/>
              <a:buNone/>
              <a:defRPr kumimoji="0" sz="1400" kern="1200">
                <a:solidFill>
                  <a:schemeClr val="tx1"/>
                </a:solidFill>
                <a:latin typeface="+mn-lt"/>
                <a:ea typeface="+mn-ea"/>
                <a:cs typeface="+mn-cs"/>
              </a:defRPr>
            </a:lvl1pPr>
            <a:lvl2pPr marL="905256" indent="-457200" algn="l" rtl="0" eaLnBrk="1" latinLnBrk="0" hangingPunct="1">
              <a:spcBef>
                <a:spcPct val="20000"/>
              </a:spcBef>
              <a:buClr>
                <a:schemeClr val="tx1"/>
              </a:buClr>
              <a:buSzPct val="90000"/>
              <a:buFont typeface="Arial"/>
              <a:buNone/>
              <a:defRPr kumimoji="0" sz="1200" kern="1200">
                <a:solidFill>
                  <a:schemeClr val="tx1"/>
                </a:solidFill>
                <a:latin typeface="+mn-lt"/>
                <a:ea typeface="+mn-ea"/>
                <a:cs typeface="+mn-cs"/>
              </a:defRPr>
            </a:lvl2pPr>
            <a:lvl3pPr marL="1092708" indent="-342900" algn="l" rtl="0" eaLnBrk="1" latinLnBrk="0" hangingPunct="1">
              <a:spcBef>
                <a:spcPct val="20000"/>
              </a:spcBef>
              <a:buClr>
                <a:schemeClr val="tx1"/>
              </a:buClr>
              <a:buSzPct val="85000"/>
              <a:buFont typeface="Arial"/>
              <a:buNone/>
              <a:defRPr kumimoji="0" sz="1000" kern="1200">
                <a:solidFill>
                  <a:schemeClr val="tx1"/>
                </a:solidFill>
                <a:latin typeface="+mn-lt"/>
                <a:ea typeface="+mn-ea"/>
                <a:cs typeface="+mn-cs"/>
              </a:defRPr>
            </a:lvl3pPr>
            <a:lvl4pPr marL="1385316" indent="-342900" algn="l" rtl="0" eaLnBrk="1" latinLnBrk="0" hangingPunct="1">
              <a:spcBef>
                <a:spcPct val="20000"/>
              </a:spcBef>
              <a:buClr>
                <a:schemeClr val="tx1"/>
              </a:buClr>
              <a:buSzPct val="90000"/>
              <a:buFont typeface="Arial"/>
              <a:buNone/>
              <a:defRPr kumimoji="0" sz="900" kern="1200">
                <a:solidFill>
                  <a:schemeClr val="tx1"/>
                </a:solidFill>
                <a:latin typeface="+mn-lt"/>
                <a:ea typeface="+mn-ea"/>
                <a:cs typeface="+mn-cs"/>
              </a:defRPr>
            </a:lvl4pPr>
            <a:lvl5pPr marL="1650492" indent="-342900" algn="l" rtl="0" eaLnBrk="1" latinLnBrk="0" hangingPunct="1">
              <a:spcBef>
                <a:spcPct val="20000"/>
              </a:spcBef>
              <a:buClr>
                <a:schemeClr val="tx1"/>
              </a:buClr>
              <a:buSzPct val="100000"/>
              <a:buFont typeface="Arial"/>
              <a:buNone/>
              <a:defRPr kumimoji="0" sz="9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sz="1700" dirty="0"/>
              <a:t>Git: Version Control System.</a:t>
            </a:r>
          </a:p>
          <a:p>
            <a:pPr marL="285750" indent="-285750" algn="just">
              <a:buFont typeface="Arial" panose="020B0604020202020204" pitchFamily="34" charset="0"/>
              <a:buChar char="•"/>
            </a:pPr>
            <a:r>
              <a:rPr lang="en-US" sz="1700" dirty="0"/>
              <a:t>GitLab/GitHub: Source Code management System/platform used to host git repositories and to share it with others enabling collaboration.</a:t>
            </a:r>
          </a:p>
          <a:p>
            <a:pPr marL="285750" indent="-285750" algn="just">
              <a:buFont typeface="Arial" panose="020B0604020202020204" pitchFamily="34" charset="0"/>
              <a:buChar char="•"/>
            </a:pPr>
            <a:r>
              <a:rPr lang="en-US" sz="1700" dirty="0"/>
              <a:t>GitLab has a built-in CI/CD whereas GitHub doesn’t.</a:t>
            </a:r>
          </a:p>
          <a:p>
            <a:endParaRPr lang="en-US" dirty="0"/>
          </a:p>
        </p:txBody>
      </p:sp>
      <p:pic>
        <p:nvPicPr>
          <p:cNvPr id="1026" name="Picture 2" descr="What's the difference between git, GitHub, and GitLab?">
            <a:extLst>
              <a:ext uri="{FF2B5EF4-FFF2-40B4-BE49-F238E27FC236}">
                <a16:creationId xmlns:a16="http://schemas.microsoft.com/office/drawing/2014/main" id="{D71D39F1-E08F-6FC1-FE4A-6C692120E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8112" y="1166472"/>
            <a:ext cx="4996543" cy="2810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736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87792-0D02-B011-3E7B-DC095BAB0FB2}"/>
              </a:ext>
            </a:extLst>
          </p:cNvPr>
          <p:cNvSpPr>
            <a:spLocks noGrp="1"/>
          </p:cNvSpPr>
          <p:nvPr>
            <p:ph type="title"/>
          </p:nvPr>
        </p:nvSpPr>
        <p:spPr>
          <a:xfrm>
            <a:off x="630062" y="358379"/>
            <a:ext cx="7467600" cy="857250"/>
          </a:xfrm>
        </p:spPr>
        <p:txBody>
          <a:bodyPr>
            <a:normAutofit/>
          </a:bodyPr>
          <a:lstStyle/>
          <a:p>
            <a:r>
              <a:rPr lang="en-US" sz="4000" dirty="0"/>
              <a:t>Download Git</a:t>
            </a:r>
          </a:p>
        </p:txBody>
      </p:sp>
      <p:sp>
        <p:nvSpPr>
          <p:cNvPr id="5" name="Date Placeholder 4">
            <a:extLst>
              <a:ext uri="{FF2B5EF4-FFF2-40B4-BE49-F238E27FC236}">
                <a16:creationId xmlns:a16="http://schemas.microsoft.com/office/drawing/2014/main" id="{7A2C8BB2-9263-A9DE-0514-4832371A92F2}"/>
              </a:ext>
            </a:extLst>
          </p:cNvPr>
          <p:cNvSpPr>
            <a:spLocks noGrp="1"/>
          </p:cNvSpPr>
          <p:nvPr>
            <p:ph type="dt" sz="half" idx="10"/>
          </p:nvPr>
        </p:nvSpPr>
        <p:spPr/>
        <p:txBody>
          <a:bodyPr/>
          <a:lstStyle/>
          <a:p>
            <a:fld id="{360D11B8-E184-47EB-B689-91B87491E864}" type="datetime1">
              <a:rPr lang="en-US" smtClean="0"/>
              <a:t>11/18/2025</a:t>
            </a:fld>
            <a:endParaRPr lang="en-US" dirty="0"/>
          </a:p>
        </p:txBody>
      </p:sp>
      <p:sp>
        <p:nvSpPr>
          <p:cNvPr id="6" name="Footer Placeholder 5">
            <a:extLst>
              <a:ext uri="{FF2B5EF4-FFF2-40B4-BE49-F238E27FC236}">
                <a16:creationId xmlns:a16="http://schemas.microsoft.com/office/drawing/2014/main" id="{C81F890B-A2DC-D2B4-846F-C5DFE9E5782F}"/>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7" name="Slide Number Placeholder 6">
            <a:extLst>
              <a:ext uri="{FF2B5EF4-FFF2-40B4-BE49-F238E27FC236}">
                <a16:creationId xmlns:a16="http://schemas.microsoft.com/office/drawing/2014/main" id="{A4155FDB-56D1-1308-4F08-B8B188C48C00}"/>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4</a:t>
            </a:fld>
            <a:endParaRPr lang="en-US" dirty="0"/>
          </a:p>
        </p:txBody>
      </p:sp>
      <p:sp>
        <p:nvSpPr>
          <p:cNvPr id="9" name="TextBox 8">
            <a:extLst>
              <a:ext uri="{FF2B5EF4-FFF2-40B4-BE49-F238E27FC236}">
                <a16:creationId xmlns:a16="http://schemas.microsoft.com/office/drawing/2014/main" id="{A1C4FB07-CC4C-84E5-B007-F93AE2AA6269}"/>
              </a:ext>
            </a:extLst>
          </p:cNvPr>
          <p:cNvSpPr txBox="1"/>
          <p:nvPr/>
        </p:nvSpPr>
        <p:spPr>
          <a:xfrm>
            <a:off x="683335" y="1966436"/>
            <a:ext cx="7110836" cy="1477328"/>
          </a:xfrm>
          <a:prstGeom prst="rect">
            <a:avLst/>
          </a:prstGeom>
          <a:noFill/>
        </p:spPr>
        <p:txBody>
          <a:bodyPr wrap="square">
            <a:spAutoFit/>
          </a:bodyPr>
          <a:lstStyle/>
          <a:p>
            <a:pPr algn="l"/>
            <a:r>
              <a:rPr lang="en-CA" b="1" i="0" dirty="0">
                <a:solidFill>
                  <a:srgbClr val="002060"/>
                </a:solidFill>
                <a:effectLst/>
                <a:latin typeface="-apple-system"/>
              </a:rPr>
              <a:t>📚 - Resources</a:t>
            </a:r>
          </a:p>
          <a:p>
            <a:pPr algn="l">
              <a:buFont typeface="Arial" panose="020B0604020202020204" pitchFamily="34" charset="0"/>
              <a:buChar char="•"/>
            </a:pPr>
            <a:r>
              <a:rPr lang="en-CA" b="0" i="0" u="none" strike="noStrike" dirty="0">
                <a:solidFill>
                  <a:srgbClr val="002060"/>
                </a:solidFill>
                <a:effectLst/>
                <a:latin typeface="-apple-system"/>
                <a:hlinkClick r:id="rId2">
                  <a:extLst>
                    <a:ext uri="{A12FA001-AC4F-418D-AE19-62706E023703}">
                      <ahyp:hlinkClr xmlns="" xmlns:ahyp="http://schemas.microsoft.com/office/drawing/2018/hyperlinkcolor" val="tx"/>
                    </a:ext>
                  </a:extLst>
                </a:hlinkClick>
              </a:rPr>
              <a:t>Git installation instructions</a:t>
            </a:r>
            <a:endParaRPr lang="en-CA" b="0" i="0" dirty="0">
              <a:solidFill>
                <a:srgbClr val="002060"/>
              </a:solidFill>
              <a:effectLst/>
              <a:latin typeface="-apple-system"/>
            </a:endParaRPr>
          </a:p>
          <a:p>
            <a:pPr algn="l">
              <a:buFont typeface="Arial" panose="020B0604020202020204" pitchFamily="34" charset="0"/>
              <a:buChar char="•"/>
            </a:pPr>
            <a:r>
              <a:rPr lang="en-CA" b="0" i="0" u="none" strike="noStrike" dirty="0">
                <a:solidFill>
                  <a:srgbClr val="002060"/>
                </a:solidFill>
                <a:effectLst/>
                <a:latin typeface="-apple-system"/>
                <a:hlinkClick r:id="rId3">
                  <a:extLst>
                    <a:ext uri="{A12FA001-AC4F-418D-AE19-62706E023703}">
                      <ahyp:hlinkClr xmlns="" xmlns:ahyp="http://schemas.microsoft.com/office/drawing/2018/hyperlinkcolor" val="tx"/>
                    </a:ext>
                  </a:extLst>
                </a:hlinkClick>
              </a:rPr>
              <a:t>Setup Git for Windows 10</a:t>
            </a:r>
            <a:endParaRPr lang="en-CA" b="0" i="0" dirty="0">
              <a:solidFill>
                <a:srgbClr val="002060"/>
              </a:solidFill>
              <a:effectLst/>
              <a:latin typeface="-apple-system"/>
            </a:endParaRPr>
          </a:p>
          <a:p>
            <a:pPr algn="l">
              <a:buFont typeface="Arial" panose="020B0604020202020204" pitchFamily="34" charset="0"/>
              <a:buChar char="•"/>
            </a:pPr>
            <a:r>
              <a:rPr lang="en-CA" b="0" i="0" u="none" strike="noStrike" dirty="0">
                <a:solidFill>
                  <a:srgbClr val="002060"/>
                </a:solidFill>
                <a:effectLst/>
                <a:latin typeface="-apple-system"/>
                <a:hlinkClick r:id="rId4">
                  <a:extLst>
                    <a:ext uri="{A12FA001-AC4F-418D-AE19-62706E023703}">
                      <ahyp:hlinkClr xmlns="" xmlns:ahyp="http://schemas.microsoft.com/office/drawing/2018/hyperlinkcolor" val="tx"/>
                    </a:ext>
                  </a:extLst>
                </a:hlinkClick>
              </a:rPr>
              <a:t>Setup Git for macOS</a:t>
            </a:r>
            <a:endParaRPr lang="en-CA" b="0" i="0" dirty="0">
              <a:solidFill>
                <a:srgbClr val="002060"/>
              </a:solidFill>
              <a:effectLst/>
              <a:latin typeface="-apple-system"/>
            </a:endParaRPr>
          </a:p>
          <a:p>
            <a:pPr algn="l">
              <a:buFont typeface="Arial" panose="020B0604020202020204" pitchFamily="34" charset="0"/>
              <a:buChar char="•"/>
            </a:pPr>
            <a:r>
              <a:rPr lang="en-CA" b="0" i="0" u="none" strike="noStrike" dirty="0">
                <a:solidFill>
                  <a:srgbClr val="002060"/>
                </a:solidFill>
                <a:effectLst/>
                <a:latin typeface="-apple-system"/>
                <a:hlinkClick r:id="rId5">
                  <a:extLst>
                    <a:ext uri="{A12FA001-AC4F-418D-AE19-62706E023703}">
                      <ahyp:hlinkClr xmlns="" xmlns:ahyp="http://schemas.microsoft.com/office/drawing/2018/hyperlinkcolor" val="tx"/>
                    </a:ext>
                  </a:extLst>
                </a:hlinkClick>
              </a:rPr>
              <a:t>Setup Git for Linux</a:t>
            </a:r>
            <a:endParaRPr lang="en-CA" b="0" i="0" dirty="0">
              <a:solidFill>
                <a:srgbClr val="002060"/>
              </a:solidFill>
              <a:effectLst/>
              <a:latin typeface="-apple-system"/>
            </a:endParaRPr>
          </a:p>
        </p:txBody>
      </p:sp>
    </p:spTree>
    <p:extLst>
      <p:ext uri="{BB962C8B-B14F-4D97-AF65-F5344CB8AC3E}">
        <p14:creationId xmlns:p14="http://schemas.microsoft.com/office/powerpoint/2010/main" val="121320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42046-7D73-2EB0-40EE-5F0A0A69CE05}"/>
              </a:ext>
            </a:extLst>
          </p:cNvPr>
          <p:cNvSpPr>
            <a:spLocks noGrp="1"/>
          </p:cNvSpPr>
          <p:nvPr>
            <p:ph type="title"/>
          </p:nvPr>
        </p:nvSpPr>
        <p:spPr>
          <a:xfrm>
            <a:off x="457200" y="331917"/>
            <a:ext cx="7467600" cy="857250"/>
          </a:xfrm>
        </p:spPr>
        <p:txBody>
          <a:bodyPr>
            <a:normAutofit/>
          </a:bodyPr>
          <a:lstStyle/>
          <a:p>
            <a:r>
              <a:rPr lang="en-US" sz="4000" dirty="0"/>
              <a:t>Setting up Git</a:t>
            </a:r>
          </a:p>
        </p:txBody>
      </p:sp>
      <p:sp>
        <p:nvSpPr>
          <p:cNvPr id="3" name="Content Placeholder 2">
            <a:extLst>
              <a:ext uri="{FF2B5EF4-FFF2-40B4-BE49-F238E27FC236}">
                <a16:creationId xmlns:a16="http://schemas.microsoft.com/office/drawing/2014/main" id="{85C998A1-4735-019D-DD48-1AC85BD43A1B}"/>
              </a:ext>
            </a:extLst>
          </p:cNvPr>
          <p:cNvSpPr>
            <a:spLocks noGrp="1"/>
          </p:cNvSpPr>
          <p:nvPr>
            <p:ph sz="half" idx="1"/>
          </p:nvPr>
        </p:nvSpPr>
        <p:spPr>
          <a:xfrm>
            <a:off x="0" y="1200151"/>
            <a:ext cx="9231085" cy="3262788"/>
          </a:xfrm>
        </p:spPr>
        <p:txBody>
          <a:bodyPr>
            <a:normAutofit/>
          </a:bodyPr>
          <a:lstStyle/>
          <a:p>
            <a:r>
              <a:rPr lang="en-CA" dirty="0" smtClean="0"/>
              <a:t> </a:t>
            </a:r>
            <a:r>
              <a:rPr lang="en-CA" dirty="0"/>
              <a:t>git --version</a:t>
            </a:r>
          </a:p>
          <a:p>
            <a:r>
              <a:rPr lang="en-CA" dirty="0" smtClean="0"/>
              <a:t> </a:t>
            </a:r>
            <a:r>
              <a:rPr lang="en-CA" dirty="0"/>
              <a:t>git config --global user.name </a:t>
            </a:r>
            <a:r>
              <a:rPr lang="en-CA" dirty="0">
                <a:solidFill>
                  <a:srgbClr val="BA2121"/>
                </a:solidFill>
              </a:rPr>
              <a:t>“</a:t>
            </a:r>
            <a:r>
              <a:rPr lang="en-CA" dirty="0">
                <a:solidFill>
                  <a:srgbClr val="BA2121"/>
                </a:solidFill>
                <a:effectLst/>
              </a:rPr>
              <a:t>Sherlock Holmes”</a:t>
            </a:r>
            <a:endParaRPr lang="en-CA" dirty="0"/>
          </a:p>
          <a:p>
            <a:r>
              <a:rPr lang="en-CA" dirty="0" smtClean="0"/>
              <a:t> </a:t>
            </a:r>
            <a:r>
              <a:rPr lang="en-CA" dirty="0"/>
              <a:t>git config --global </a:t>
            </a:r>
            <a:r>
              <a:rPr lang="en-CA" dirty="0" err="1"/>
              <a:t>user.email</a:t>
            </a:r>
            <a:r>
              <a:rPr lang="en-CA" dirty="0"/>
              <a:t> </a:t>
            </a:r>
            <a:r>
              <a:rPr lang="en-CA" dirty="0">
                <a:solidFill>
                  <a:srgbClr val="C00000"/>
                </a:solidFill>
                <a:hlinkClick r:id="rId2">
                  <a:extLst>
                    <a:ext uri="{A12FA001-AC4F-418D-AE19-62706E023703}">
                      <ahyp:hlinkClr xmlns="" xmlns:ahyp="http://schemas.microsoft.com/office/drawing/2018/hyperlinkcolor" val="tx"/>
                    </a:ext>
                  </a:extLst>
                </a:hlinkClick>
              </a:rPr>
              <a:t>“</a:t>
            </a:r>
            <a:r>
              <a:rPr lang="en-CA" dirty="0">
                <a:solidFill>
                  <a:srgbClr val="C00000"/>
                </a:solidFill>
                <a:hlinkClick r:id="rId2">
                  <a:extLst>
                    <a:ext uri="{A12FA001-AC4F-418D-AE19-62706E023703}">
                      <ahyp:hlinkClr xmlns="" xmlns:ahyp="http://schemas.microsoft.com/office/drawing/2018/hyperlinkcolor" val="tx"/>
                    </a:ext>
                  </a:extLst>
                </a:hlinkClick>
              </a:rPr>
              <a:t>Imsherlocked@gmail.co</a:t>
            </a:r>
            <a:r>
              <a:rPr lang="en-CA" dirty="0">
                <a:solidFill>
                  <a:srgbClr val="C00000"/>
                </a:solidFill>
              </a:rPr>
              <a:t>m</a:t>
            </a:r>
            <a:r>
              <a:rPr lang="en-CA" dirty="0">
                <a:solidFill>
                  <a:srgbClr val="BA2121"/>
                </a:solidFill>
              </a:rPr>
              <a:t>”</a:t>
            </a:r>
          </a:p>
          <a:p>
            <a:r>
              <a:rPr lang="en-CA" dirty="0" smtClean="0"/>
              <a:t> </a:t>
            </a:r>
            <a:r>
              <a:rPr lang="en-CA" dirty="0"/>
              <a:t>git config -h (list of commands)</a:t>
            </a:r>
          </a:p>
          <a:p>
            <a:r>
              <a:rPr lang="en-CA" dirty="0" smtClean="0"/>
              <a:t> </a:t>
            </a:r>
            <a:r>
              <a:rPr lang="en-CA" dirty="0"/>
              <a:t>git config --help (git manual)</a:t>
            </a:r>
          </a:p>
        </p:txBody>
      </p:sp>
      <p:sp>
        <p:nvSpPr>
          <p:cNvPr id="5" name="Date Placeholder 4">
            <a:extLst>
              <a:ext uri="{FF2B5EF4-FFF2-40B4-BE49-F238E27FC236}">
                <a16:creationId xmlns:a16="http://schemas.microsoft.com/office/drawing/2014/main" id="{5D346B6D-0B80-F993-2525-D1CAC9B939B6}"/>
              </a:ext>
            </a:extLst>
          </p:cNvPr>
          <p:cNvSpPr>
            <a:spLocks noGrp="1"/>
          </p:cNvSpPr>
          <p:nvPr>
            <p:ph type="dt" sz="half" idx="10"/>
          </p:nvPr>
        </p:nvSpPr>
        <p:spPr/>
        <p:txBody>
          <a:bodyPr/>
          <a:lstStyle/>
          <a:p>
            <a:fld id="{360D11B8-E184-47EB-B689-91B87491E864}" type="datetime1">
              <a:rPr lang="en-US" smtClean="0"/>
              <a:t>11/18/2025</a:t>
            </a:fld>
            <a:endParaRPr lang="en-US" dirty="0"/>
          </a:p>
        </p:txBody>
      </p:sp>
      <p:sp>
        <p:nvSpPr>
          <p:cNvPr id="6" name="Footer Placeholder 5">
            <a:extLst>
              <a:ext uri="{FF2B5EF4-FFF2-40B4-BE49-F238E27FC236}">
                <a16:creationId xmlns:a16="http://schemas.microsoft.com/office/drawing/2014/main" id="{7FF1F238-8D02-75E9-EE1B-51B7A9493642}"/>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7" name="Slide Number Placeholder 6">
            <a:extLst>
              <a:ext uri="{FF2B5EF4-FFF2-40B4-BE49-F238E27FC236}">
                <a16:creationId xmlns:a16="http://schemas.microsoft.com/office/drawing/2014/main" id="{93E4C2BD-2A35-AC57-555D-85CFA1F2AB57}"/>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5</a:t>
            </a:fld>
            <a:endParaRPr lang="en-US" dirty="0"/>
          </a:p>
        </p:txBody>
      </p:sp>
    </p:spTree>
    <p:extLst>
      <p:ext uri="{BB962C8B-B14F-4D97-AF65-F5344CB8AC3E}">
        <p14:creationId xmlns:p14="http://schemas.microsoft.com/office/powerpoint/2010/main" val="3535226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a:xfrm>
            <a:off x="457200" y="98645"/>
            <a:ext cx="7467600" cy="857250"/>
          </a:xfrm>
        </p:spPr>
        <p:txBody>
          <a:bodyPr>
            <a:normAutofit/>
          </a:bodyPr>
          <a:lstStyle/>
          <a:p>
            <a:r>
              <a:rPr lang="en-US" sz="4000" dirty="0"/>
              <a:t>Creating a Repository</a:t>
            </a:r>
          </a:p>
        </p:txBody>
      </p:sp>
      <p:sp>
        <p:nvSpPr>
          <p:cNvPr id="3" name="Content Placeholder 2">
            <a:extLst>
              <a:ext uri="{FF2B5EF4-FFF2-40B4-BE49-F238E27FC236}">
                <a16:creationId xmlns:a16="http://schemas.microsoft.com/office/drawing/2014/main" id="{E02D45AF-B877-7E24-7615-BF380B83004A}"/>
              </a:ext>
            </a:extLst>
          </p:cNvPr>
          <p:cNvSpPr>
            <a:spLocks noGrp="1"/>
          </p:cNvSpPr>
          <p:nvPr>
            <p:ph sz="half" idx="1"/>
          </p:nvPr>
        </p:nvSpPr>
        <p:spPr>
          <a:xfrm>
            <a:off x="457200" y="940356"/>
            <a:ext cx="7817005" cy="3262788"/>
          </a:xfrm>
        </p:spPr>
        <p:txBody>
          <a:bodyPr>
            <a:noAutofit/>
          </a:bodyPr>
          <a:lstStyle/>
          <a:p>
            <a:r>
              <a:rPr lang="en-CA" sz="1800" dirty="0" smtClean="0"/>
              <a:t> </a:t>
            </a:r>
            <a:r>
              <a:rPr lang="en-CA" sz="1800" dirty="0" err="1"/>
              <a:t>mkdir</a:t>
            </a:r>
            <a:r>
              <a:rPr lang="en-CA" sz="1800" dirty="0"/>
              <a:t> </a:t>
            </a:r>
            <a:r>
              <a:rPr lang="en-CA" sz="1800" dirty="0" err="1"/>
              <a:t>gitlab</a:t>
            </a:r>
            <a:r>
              <a:rPr lang="en-CA" sz="1800" dirty="0"/>
              <a:t> (make a directory - repository)</a:t>
            </a:r>
          </a:p>
          <a:p>
            <a:r>
              <a:rPr lang="en-CA" sz="1800" dirty="0" smtClean="0"/>
              <a:t> </a:t>
            </a:r>
            <a:r>
              <a:rPr lang="en-CA" sz="1800" dirty="0">
                <a:solidFill>
                  <a:srgbClr val="008000"/>
                </a:solidFill>
                <a:effectLst/>
              </a:rPr>
              <a:t>cd</a:t>
            </a:r>
            <a:r>
              <a:rPr lang="en-CA" sz="1800" dirty="0"/>
              <a:t> </a:t>
            </a:r>
            <a:r>
              <a:rPr lang="en-CA" sz="1800" dirty="0" err="1"/>
              <a:t>gitlab</a:t>
            </a:r>
            <a:endParaRPr lang="en-CA" sz="1800" dirty="0"/>
          </a:p>
          <a:p>
            <a:r>
              <a:rPr lang="en-CA" sz="1800" dirty="0" smtClean="0"/>
              <a:t> </a:t>
            </a:r>
            <a:r>
              <a:rPr lang="en-CA" sz="1800" dirty="0"/>
              <a:t>git </a:t>
            </a:r>
            <a:r>
              <a:rPr lang="en-CA" sz="1800" dirty="0" err="1"/>
              <a:t>init</a:t>
            </a:r>
            <a:r>
              <a:rPr lang="en-CA" sz="1800" dirty="0"/>
              <a:t> (to initialise git)</a:t>
            </a:r>
          </a:p>
          <a:p>
            <a:r>
              <a:rPr lang="en-CA" sz="1800" dirty="0" smtClean="0"/>
              <a:t>git </a:t>
            </a:r>
            <a:r>
              <a:rPr lang="en-CA" sz="1800" dirty="0"/>
              <a:t>status (to show on which branch are you)</a:t>
            </a:r>
          </a:p>
          <a:p>
            <a:r>
              <a:rPr lang="en-US" sz="1800" dirty="0" smtClean="0"/>
              <a:t> </a:t>
            </a:r>
            <a:r>
              <a:rPr lang="en-US" sz="1800" dirty="0"/>
              <a:t>git add . (sends file to staging area)</a:t>
            </a:r>
          </a:p>
          <a:p>
            <a:r>
              <a:rPr lang="en-US" sz="1800" dirty="0" smtClean="0"/>
              <a:t> </a:t>
            </a:r>
            <a:r>
              <a:rPr lang="en-US" sz="1800" dirty="0"/>
              <a:t>git commit -m “my initial commit” (sends file to local repo)</a:t>
            </a:r>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10"/>
          </p:nvPr>
        </p:nvSpPr>
        <p:spPr/>
        <p:txBody>
          <a:bodyPr/>
          <a:lstStyle/>
          <a:p>
            <a:fld id="{360D11B8-E184-47EB-B689-91B87491E864}" type="datetime1">
              <a:rPr lang="en-US" smtClean="0"/>
              <a:t>11/18/2025</a:t>
            </a:fld>
            <a:endParaRPr lang="en-US" dirty="0"/>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6</a:t>
            </a:fld>
            <a:endParaRPr lang="en-US" dirty="0"/>
          </a:p>
        </p:txBody>
      </p:sp>
    </p:spTree>
    <p:extLst>
      <p:ext uri="{BB962C8B-B14F-4D97-AF65-F5344CB8AC3E}">
        <p14:creationId xmlns:p14="http://schemas.microsoft.com/office/powerpoint/2010/main" val="97439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F6002-B76D-99B0-21D3-E83683440618}"/>
              </a:ext>
            </a:extLst>
          </p:cNvPr>
          <p:cNvSpPr>
            <a:spLocks noGrp="1"/>
          </p:cNvSpPr>
          <p:nvPr>
            <p:ph type="title"/>
          </p:nvPr>
        </p:nvSpPr>
        <p:spPr/>
        <p:txBody>
          <a:bodyPr anchor="ctr">
            <a:normAutofit/>
          </a:bodyPr>
          <a:lstStyle/>
          <a:p>
            <a:pPr marL="36576" indent="0">
              <a:lnSpc>
                <a:spcPct val="90000"/>
              </a:lnSpc>
              <a:buNone/>
            </a:pPr>
            <a:r>
              <a:rPr lang="en-US" sz="4000" dirty="0"/>
              <a:t>How does Git work?</a:t>
            </a:r>
          </a:p>
        </p:txBody>
      </p:sp>
      <p:sp>
        <p:nvSpPr>
          <p:cNvPr id="5" name="Date Placeholder 4">
            <a:extLst>
              <a:ext uri="{FF2B5EF4-FFF2-40B4-BE49-F238E27FC236}">
                <a16:creationId xmlns:a16="http://schemas.microsoft.com/office/drawing/2014/main" id="{B6F62F6E-60A0-8FFC-551E-506303FABA54}"/>
              </a:ext>
            </a:extLst>
          </p:cNvPr>
          <p:cNvSpPr>
            <a:spLocks noGrp="1"/>
          </p:cNvSpPr>
          <p:nvPr>
            <p:ph type="dt" sz="half" idx="4294967295"/>
          </p:nvPr>
        </p:nvSpPr>
        <p:spPr>
          <a:xfrm>
            <a:off x="0" y="4772025"/>
            <a:ext cx="2133600" cy="273050"/>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11/18/2025</a:t>
            </a:fld>
            <a:endParaRPr lang="en-US"/>
          </a:p>
        </p:txBody>
      </p:sp>
      <p:sp>
        <p:nvSpPr>
          <p:cNvPr id="6" name="Footer Placeholder 5">
            <a:extLst>
              <a:ext uri="{FF2B5EF4-FFF2-40B4-BE49-F238E27FC236}">
                <a16:creationId xmlns:a16="http://schemas.microsoft.com/office/drawing/2014/main" id="{A022E6AF-42DB-A2D2-413C-0A8C73A0820E}"/>
              </a:ext>
            </a:extLst>
          </p:cNvPr>
          <p:cNvSpPr>
            <a:spLocks noGrp="1"/>
          </p:cNvSpPr>
          <p:nvPr>
            <p:ph type="ftr" sz="quarter" idx="4294967295"/>
          </p:nvPr>
        </p:nvSpPr>
        <p:spPr>
          <a:xfrm>
            <a:off x="6248400" y="4767263"/>
            <a:ext cx="2895600" cy="274637"/>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FF582077-8D3C-C748-8A19-5AC6E907F498}"/>
              </a:ext>
            </a:extLst>
          </p:cNvPr>
          <p:cNvSpPr>
            <a:spLocks noGrp="1"/>
          </p:cNvSpPr>
          <p:nvPr>
            <p:ph type="sldNum" sz="quarter" idx="4294967295"/>
          </p:nvPr>
        </p:nvSpPr>
        <p:spPr>
          <a:xfrm>
            <a:off x="8642350" y="4767263"/>
            <a:ext cx="501650" cy="274637"/>
          </a:xfrm>
        </p:spPr>
        <p:txBody>
          <a:bodyPr anchor="ctr">
            <a:normAutofit fontScale="77500" lnSpcReduction="20000"/>
          </a:bodyPr>
          <a:lstStyle/>
          <a:p>
            <a:pPr>
              <a:lnSpc>
                <a:spcPct val="90000"/>
              </a:lnSpc>
              <a:spcAft>
                <a:spcPts val="600"/>
              </a:spcAft>
            </a:pPr>
            <a:fld id="{17918391-D411-FE40-AAD7-861AE5233E0E}" type="slidenum">
              <a:rPr lang="en-US" smtClean="0"/>
              <a:pPr>
                <a:lnSpc>
                  <a:spcPct val="90000"/>
                </a:lnSpc>
                <a:spcAft>
                  <a:spcPts val="600"/>
                </a:spcAft>
              </a:pPr>
              <a:t>7</a:t>
            </a:fld>
            <a:endParaRPr lang="en-US"/>
          </a:p>
        </p:txBody>
      </p:sp>
      <p:pic>
        <p:nvPicPr>
          <p:cNvPr id="8" name="Picture 7">
            <a:extLst>
              <a:ext uri="{FF2B5EF4-FFF2-40B4-BE49-F238E27FC236}">
                <a16:creationId xmlns:a16="http://schemas.microsoft.com/office/drawing/2014/main" id="{708618CB-B3C7-A00C-2C8F-9891F20C7CF8}"/>
              </a:ext>
            </a:extLst>
          </p:cNvPr>
          <p:cNvPicPr>
            <a:picLocks noChangeAspect="1"/>
          </p:cNvPicPr>
          <p:nvPr/>
        </p:nvPicPr>
        <p:blipFill>
          <a:blip r:embed="rId2"/>
          <a:stretch>
            <a:fillRect/>
          </a:stretch>
        </p:blipFill>
        <p:spPr>
          <a:xfrm>
            <a:off x="457200" y="1227607"/>
            <a:ext cx="8229600" cy="2736340"/>
          </a:xfrm>
          <a:prstGeom prst="rect">
            <a:avLst/>
          </a:prstGeom>
          <a:noFill/>
        </p:spPr>
      </p:pic>
    </p:spTree>
    <p:extLst>
      <p:ext uri="{BB962C8B-B14F-4D97-AF65-F5344CB8AC3E}">
        <p14:creationId xmlns:p14="http://schemas.microsoft.com/office/powerpoint/2010/main" val="2630625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F6002-B76D-99B0-21D3-E83683440618}"/>
              </a:ext>
            </a:extLst>
          </p:cNvPr>
          <p:cNvSpPr>
            <a:spLocks noGrp="1"/>
          </p:cNvSpPr>
          <p:nvPr>
            <p:ph type="title"/>
          </p:nvPr>
        </p:nvSpPr>
        <p:spPr/>
        <p:txBody>
          <a:bodyPr anchor="ctr">
            <a:normAutofit/>
          </a:bodyPr>
          <a:lstStyle/>
          <a:p>
            <a:pPr marL="36576" indent="0">
              <a:lnSpc>
                <a:spcPct val="90000"/>
              </a:lnSpc>
              <a:buNone/>
            </a:pPr>
            <a:r>
              <a:rPr lang="en-US" sz="4000" dirty="0"/>
              <a:t>How does Git work?</a:t>
            </a:r>
          </a:p>
        </p:txBody>
      </p:sp>
      <p:sp>
        <p:nvSpPr>
          <p:cNvPr id="5" name="Date Placeholder 4">
            <a:extLst>
              <a:ext uri="{FF2B5EF4-FFF2-40B4-BE49-F238E27FC236}">
                <a16:creationId xmlns:a16="http://schemas.microsoft.com/office/drawing/2014/main" id="{B6F62F6E-60A0-8FFC-551E-506303FABA54}"/>
              </a:ext>
            </a:extLst>
          </p:cNvPr>
          <p:cNvSpPr>
            <a:spLocks noGrp="1"/>
          </p:cNvSpPr>
          <p:nvPr>
            <p:ph type="dt" sz="half" idx="4294967295"/>
          </p:nvPr>
        </p:nvSpPr>
        <p:spPr>
          <a:xfrm>
            <a:off x="0" y="4772025"/>
            <a:ext cx="2133600" cy="273050"/>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11/18/2025</a:t>
            </a:fld>
            <a:endParaRPr lang="en-US"/>
          </a:p>
        </p:txBody>
      </p:sp>
      <p:sp>
        <p:nvSpPr>
          <p:cNvPr id="6" name="Footer Placeholder 5">
            <a:extLst>
              <a:ext uri="{FF2B5EF4-FFF2-40B4-BE49-F238E27FC236}">
                <a16:creationId xmlns:a16="http://schemas.microsoft.com/office/drawing/2014/main" id="{A022E6AF-42DB-A2D2-413C-0A8C73A0820E}"/>
              </a:ext>
            </a:extLst>
          </p:cNvPr>
          <p:cNvSpPr>
            <a:spLocks noGrp="1"/>
          </p:cNvSpPr>
          <p:nvPr>
            <p:ph type="ftr" sz="quarter" idx="4294967295"/>
          </p:nvPr>
        </p:nvSpPr>
        <p:spPr>
          <a:xfrm>
            <a:off x="6248400" y="4767263"/>
            <a:ext cx="2895600" cy="274637"/>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FF582077-8D3C-C748-8A19-5AC6E907F498}"/>
              </a:ext>
            </a:extLst>
          </p:cNvPr>
          <p:cNvSpPr>
            <a:spLocks noGrp="1"/>
          </p:cNvSpPr>
          <p:nvPr>
            <p:ph type="sldNum" sz="quarter" idx="4294967295"/>
          </p:nvPr>
        </p:nvSpPr>
        <p:spPr>
          <a:xfrm>
            <a:off x="8642350" y="4767263"/>
            <a:ext cx="501650" cy="274637"/>
          </a:xfrm>
        </p:spPr>
        <p:txBody>
          <a:bodyPr anchor="ctr">
            <a:normAutofit fontScale="77500" lnSpcReduction="20000"/>
          </a:bodyPr>
          <a:lstStyle/>
          <a:p>
            <a:pPr>
              <a:lnSpc>
                <a:spcPct val="90000"/>
              </a:lnSpc>
              <a:spcAft>
                <a:spcPts val="600"/>
              </a:spcAft>
            </a:pPr>
            <a:fld id="{17918391-D411-FE40-AAD7-861AE5233E0E}" type="slidenum">
              <a:rPr lang="en-US" smtClean="0"/>
              <a:pPr>
                <a:lnSpc>
                  <a:spcPct val="90000"/>
                </a:lnSpc>
                <a:spcAft>
                  <a:spcPts val="600"/>
                </a:spcAft>
              </a:pPr>
              <a:t>8</a:t>
            </a:fld>
            <a:endParaRPr lang="en-US"/>
          </a:p>
        </p:txBody>
      </p:sp>
      <p:pic>
        <p:nvPicPr>
          <p:cNvPr id="9" name="Picture 8">
            <a:extLst>
              <a:ext uri="{FF2B5EF4-FFF2-40B4-BE49-F238E27FC236}">
                <a16:creationId xmlns:a16="http://schemas.microsoft.com/office/drawing/2014/main" id="{D3E2AFD3-D340-3135-1E08-2C7F282D3CC3}"/>
              </a:ext>
            </a:extLst>
          </p:cNvPr>
          <p:cNvPicPr>
            <a:picLocks noChangeAspect="1"/>
          </p:cNvPicPr>
          <p:nvPr/>
        </p:nvPicPr>
        <p:blipFill>
          <a:blip r:embed="rId2"/>
          <a:stretch>
            <a:fillRect/>
          </a:stretch>
        </p:blipFill>
        <p:spPr>
          <a:xfrm>
            <a:off x="1734207" y="1127220"/>
            <a:ext cx="5932618" cy="3070130"/>
          </a:xfrm>
          <a:prstGeom prst="rect">
            <a:avLst/>
          </a:prstGeom>
          <a:noFill/>
        </p:spPr>
      </p:pic>
    </p:spTree>
    <p:extLst>
      <p:ext uri="{BB962C8B-B14F-4D97-AF65-F5344CB8AC3E}">
        <p14:creationId xmlns:p14="http://schemas.microsoft.com/office/powerpoint/2010/main" val="174363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F6002-B76D-99B0-21D3-E83683440618}"/>
              </a:ext>
            </a:extLst>
          </p:cNvPr>
          <p:cNvSpPr>
            <a:spLocks noGrp="1"/>
          </p:cNvSpPr>
          <p:nvPr>
            <p:ph type="title"/>
          </p:nvPr>
        </p:nvSpPr>
        <p:spPr>
          <a:xfrm>
            <a:off x="396149" y="0"/>
            <a:ext cx="8226854" cy="705332"/>
          </a:xfrm>
        </p:spPr>
        <p:txBody>
          <a:bodyPr anchor="ctr">
            <a:normAutofit/>
          </a:bodyPr>
          <a:lstStyle/>
          <a:p>
            <a:pPr marL="36576" indent="0">
              <a:lnSpc>
                <a:spcPct val="90000"/>
              </a:lnSpc>
              <a:buNone/>
            </a:pPr>
            <a:r>
              <a:rPr lang="en-US" sz="4000" dirty="0"/>
              <a:t>Git Unstage files </a:t>
            </a:r>
          </a:p>
        </p:txBody>
      </p:sp>
      <p:sp>
        <p:nvSpPr>
          <p:cNvPr id="2" name="Content Placeholder 2">
            <a:extLst>
              <a:ext uri="{FF2B5EF4-FFF2-40B4-BE49-F238E27FC236}">
                <a16:creationId xmlns:a16="http://schemas.microsoft.com/office/drawing/2014/main" id="{FDF83462-391F-84B4-93FC-66C29565E02D}"/>
              </a:ext>
            </a:extLst>
          </p:cNvPr>
          <p:cNvSpPr>
            <a:spLocks noGrp="1"/>
          </p:cNvSpPr>
          <p:nvPr>
            <p:ph idx="1"/>
          </p:nvPr>
        </p:nvSpPr>
        <p:spPr>
          <a:xfrm>
            <a:off x="520997" y="605350"/>
            <a:ext cx="7467600" cy="3262788"/>
          </a:xfrm>
        </p:spPr>
        <p:txBody>
          <a:bodyPr>
            <a:noAutofit/>
          </a:bodyPr>
          <a:lstStyle/>
          <a:p>
            <a:r>
              <a:rPr lang="en-US" sz="1500" dirty="0"/>
              <a:t>vim </a:t>
            </a:r>
            <a:r>
              <a:rPr lang="en-US" sz="1500" dirty="0" err="1"/>
              <a:t>index.html</a:t>
            </a:r>
            <a:r>
              <a:rPr lang="en-US" sz="1500" dirty="0"/>
              <a:t> </a:t>
            </a:r>
          </a:p>
          <a:p>
            <a:r>
              <a:rPr lang="en-US" sz="1500" dirty="0"/>
              <a:t>vim </a:t>
            </a:r>
            <a:r>
              <a:rPr lang="en-US" sz="1500" dirty="0" err="1"/>
              <a:t>readme.md</a:t>
            </a:r>
            <a:r>
              <a:rPr lang="en-US" sz="1500" dirty="0"/>
              <a:t> (”Hello! I am learning git”)</a:t>
            </a:r>
          </a:p>
          <a:p>
            <a:r>
              <a:rPr lang="en-US" sz="1500" dirty="0"/>
              <a:t>git status</a:t>
            </a:r>
          </a:p>
          <a:p>
            <a:r>
              <a:rPr lang="en-US" sz="1500" dirty="0"/>
              <a:t>git add . </a:t>
            </a:r>
          </a:p>
          <a:p>
            <a:r>
              <a:rPr lang="en-US" sz="1500" dirty="0"/>
              <a:t>git commit -m “Added </a:t>
            </a:r>
            <a:r>
              <a:rPr lang="en-US" sz="1500" dirty="0" err="1"/>
              <a:t>index.html</a:t>
            </a:r>
            <a:r>
              <a:rPr lang="en-US" sz="1500" dirty="0"/>
              <a:t> and readme”</a:t>
            </a:r>
          </a:p>
          <a:p>
            <a:r>
              <a:rPr lang="en-US" sz="1500" dirty="0"/>
              <a:t>git status</a:t>
            </a:r>
          </a:p>
          <a:p>
            <a:r>
              <a:rPr lang="en-US" sz="1500" dirty="0"/>
              <a:t>git reset HEAD </a:t>
            </a:r>
            <a:r>
              <a:rPr lang="en-US" sz="1500" dirty="0" err="1"/>
              <a:t>readme.md</a:t>
            </a:r>
            <a:r>
              <a:rPr lang="en-US" sz="1500" dirty="0"/>
              <a:t> (Note: Removes from the staging area and it doesn’t mean that the changes have gone away. Need to commit)</a:t>
            </a:r>
          </a:p>
          <a:p>
            <a:r>
              <a:rPr lang="en-US" sz="1500" dirty="0"/>
              <a:t>git status</a:t>
            </a:r>
          </a:p>
          <a:p>
            <a:r>
              <a:rPr lang="en-US" sz="1500" dirty="0"/>
              <a:t>git commit -m “added first page” (Commits only </a:t>
            </a:r>
            <a:r>
              <a:rPr lang="en-US" sz="1500" dirty="0" err="1"/>
              <a:t>index.html</a:t>
            </a:r>
            <a:r>
              <a:rPr lang="en-US" sz="1500" dirty="0"/>
              <a:t>)</a:t>
            </a:r>
          </a:p>
          <a:p>
            <a:r>
              <a:rPr lang="en-US" sz="1500" dirty="0"/>
              <a:t>git status</a:t>
            </a:r>
          </a:p>
          <a:p>
            <a:r>
              <a:rPr lang="en-US" sz="1500" dirty="0"/>
              <a:t>git add .</a:t>
            </a:r>
          </a:p>
          <a:p>
            <a:r>
              <a:rPr lang="en-US" sz="1500" dirty="0"/>
              <a:t>git commit -m “added readme”</a:t>
            </a:r>
          </a:p>
          <a:p>
            <a:r>
              <a:rPr lang="en-US" sz="1500" dirty="0"/>
              <a:t>git status</a:t>
            </a:r>
          </a:p>
        </p:txBody>
      </p:sp>
      <p:sp>
        <p:nvSpPr>
          <p:cNvPr id="5" name="Date Placeholder 4">
            <a:extLst>
              <a:ext uri="{FF2B5EF4-FFF2-40B4-BE49-F238E27FC236}">
                <a16:creationId xmlns:a16="http://schemas.microsoft.com/office/drawing/2014/main" id="{B6F62F6E-60A0-8FFC-551E-506303FABA54}"/>
              </a:ext>
            </a:extLst>
          </p:cNvPr>
          <p:cNvSpPr>
            <a:spLocks noGrp="1"/>
          </p:cNvSpPr>
          <p:nvPr>
            <p:ph type="dt" sz="half" idx="4294967295"/>
          </p:nvPr>
        </p:nvSpPr>
        <p:spPr>
          <a:xfrm>
            <a:off x="0" y="4772025"/>
            <a:ext cx="2133600" cy="273050"/>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11/18/2025</a:t>
            </a:fld>
            <a:endParaRPr lang="en-US"/>
          </a:p>
        </p:txBody>
      </p:sp>
      <p:sp>
        <p:nvSpPr>
          <p:cNvPr id="6" name="Footer Placeholder 5">
            <a:extLst>
              <a:ext uri="{FF2B5EF4-FFF2-40B4-BE49-F238E27FC236}">
                <a16:creationId xmlns:a16="http://schemas.microsoft.com/office/drawing/2014/main" id="{A022E6AF-42DB-A2D2-413C-0A8C73A0820E}"/>
              </a:ext>
            </a:extLst>
          </p:cNvPr>
          <p:cNvSpPr>
            <a:spLocks noGrp="1"/>
          </p:cNvSpPr>
          <p:nvPr>
            <p:ph type="ftr" sz="quarter" idx="4294967295"/>
          </p:nvPr>
        </p:nvSpPr>
        <p:spPr>
          <a:xfrm>
            <a:off x="6248400" y="4767263"/>
            <a:ext cx="2895600" cy="274637"/>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FF582077-8D3C-C748-8A19-5AC6E907F498}"/>
              </a:ext>
            </a:extLst>
          </p:cNvPr>
          <p:cNvSpPr>
            <a:spLocks noGrp="1"/>
          </p:cNvSpPr>
          <p:nvPr>
            <p:ph type="sldNum" sz="quarter" idx="4294967295"/>
          </p:nvPr>
        </p:nvSpPr>
        <p:spPr>
          <a:xfrm>
            <a:off x="8642350" y="4767263"/>
            <a:ext cx="501650" cy="274637"/>
          </a:xfrm>
        </p:spPr>
        <p:txBody>
          <a:bodyPr anchor="ctr">
            <a:normAutofit fontScale="77500" lnSpcReduction="20000"/>
          </a:bodyPr>
          <a:lstStyle/>
          <a:p>
            <a:pPr>
              <a:lnSpc>
                <a:spcPct val="90000"/>
              </a:lnSpc>
              <a:spcAft>
                <a:spcPts val="600"/>
              </a:spcAft>
            </a:pPr>
            <a:fld id="{17918391-D411-FE40-AAD7-861AE5233E0E}" type="slidenum">
              <a:rPr lang="en-US" smtClean="0"/>
              <a:pPr>
                <a:lnSpc>
                  <a:spcPct val="90000"/>
                </a:lnSpc>
                <a:spcAft>
                  <a:spcPts val="600"/>
                </a:spcAft>
              </a:pPr>
              <a:t>9</a:t>
            </a:fld>
            <a:endParaRPr lang="en-US"/>
          </a:p>
        </p:txBody>
      </p:sp>
    </p:spTree>
    <p:extLst>
      <p:ext uri="{BB962C8B-B14F-4D97-AF65-F5344CB8AC3E}">
        <p14:creationId xmlns:p14="http://schemas.microsoft.com/office/powerpoint/2010/main" val="2497103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p:txBody>
          <a:bodyPr>
            <a:normAutofit/>
          </a:bodyPr>
          <a:lstStyle/>
          <a:p>
            <a:r>
              <a:rPr lang="en-US" sz="4000" dirty="0"/>
              <a:t>Track Changes</a:t>
            </a:r>
          </a:p>
        </p:txBody>
      </p:sp>
      <p:sp>
        <p:nvSpPr>
          <p:cNvPr id="3" name="Content Placeholder 2">
            <a:extLst>
              <a:ext uri="{FF2B5EF4-FFF2-40B4-BE49-F238E27FC236}">
                <a16:creationId xmlns:a16="http://schemas.microsoft.com/office/drawing/2014/main" id="{E02D45AF-B877-7E24-7615-BF380B83004A}"/>
              </a:ext>
            </a:extLst>
          </p:cNvPr>
          <p:cNvSpPr>
            <a:spLocks noGrp="1"/>
          </p:cNvSpPr>
          <p:nvPr>
            <p:ph sz="half" idx="1"/>
          </p:nvPr>
        </p:nvSpPr>
        <p:spPr>
          <a:xfrm>
            <a:off x="457200" y="1200151"/>
            <a:ext cx="7467600" cy="3262788"/>
          </a:xfrm>
        </p:spPr>
        <p:txBody>
          <a:bodyPr>
            <a:normAutofit/>
          </a:bodyPr>
          <a:lstStyle/>
          <a:p>
            <a:pPr algn="l"/>
            <a:r>
              <a:rPr lang="en-CA" dirty="0" smtClean="0"/>
              <a:t> </a:t>
            </a:r>
            <a:r>
              <a:rPr lang="en-CA" dirty="0"/>
              <a:t>git </a:t>
            </a:r>
            <a:r>
              <a:rPr lang="en-CA" dirty="0">
                <a:solidFill>
                  <a:schemeClr val="tx2"/>
                </a:solidFill>
              </a:rPr>
              <a:t>status</a:t>
            </a:r>
          </a:p>
          <a:p>
            <a:pPr algn="l"/>
            <a:r>
              <a:rPr lang="en-CA" b="0" i="0" dirty="0" smtClean="0">
                <a:solidFill>
                  <a:schemeClr val="tx2"/>
                </a:solidFill>
                <a:effectLst/>
                <a:latin typeface="Lato" panose="020F0502020204030203" pitchFamily="34" charset="0"/>
              </a:rPr>
              <a:t> </a:t>
            </a:r>
            <a:r>
              <a:rPr lang="en-CA" b="0" i="0" dirty="0">
                <a:solidFill>
                  <a:schemeClr val="tx2"/>
                </a:solidFill>
                <a:effectLst/>
                <a:latin typeface="Lato" panose="020F0502020204030203" pitchFamily="34" charset="0"/>
              </a:rPr>
              <a:t>git log (shows the time and dat</a:t>
            </a:r>
            <a:r>
              <a:rPr lang="en-CA" dirty="0">
                <a:solidFill>
                  <a:schemeClr val="tx2"/>
                </a:solidFill>
                <a:latin typeface="Lato" panose="020F0502020204030203" pitchFamily="34" charset="0"/>
              </a:rPr>
              <a:t>e of each commit</a:t>
            </a:r>
            <a:r>
              <a:rPr lang="en-CA" b="0" i="0" dirty="0">
                <a:solidFill>
                  <a:schemeClr val="tx2"/>
                </a:solidFill>
                <a:effectLst/>
                <a:latin typeface="Lato" panose="020F0502020204030203" pitchFamily="34" charset="0"/>
              </a:rPr>
              <a:t>)</a:t>
            </a:r>
          </a:p>
          <a:p>
            <a:r>
              <a:rPr lang="en-CA" b="0" i="0" dirty="0" smtClean="0">
                <a:solidFill>
                  <a:schemeClr val="tx2"/>
                </a:solidFill>
                <a:effectLst/>
                <a:latin typeface="Lato" panose="020F0502020204030203" pitchFamily="34" charset="0"/>
              </a:rPr>
              <a:t> </a:t>
            </a:r>
            <a:r>
              <a:rPr lang="en-CA" b="0" i="0" dirty="0">
                <a:solidFill>
                  <a:schemeClr val="tx2"/>
                </a:solidFill>
                <a:effectLst/>
                <a:latin typeface="Lato" panose="020F0502020204030203" pitchFamily="34" charset="0"/>
              </a:rPr>
              <a:t>git log --patch (shows the details of the file)</a:t>
            </a:r>
          </a:p>
          <a:p>
            <a:pPr algn="l"/>
            <a:r>
              <a:rPr lang="en-CA" b="0" i="0" dirty="0" smtClean="0">
                <a:solidFill>
                  <a:schemeClr val="tx2"/>
                </a:solidFill>
                <a:effectLst/>
                <a:latin typeface="Lato" panose="020F0502020204030203" pitchFamily="34" charset="0"/>
              </a:rPr>
              <a:t> </a:t>
            </a:r>
            <a:r>
              <a:rPr lang="en-CA" b="0" i="0" dirty="0">
                <a:solidFill>
                  <a:schemeClr val="tx2"/>
                </a:solidFill>
                <a:effectLst/>
                <a:latin typeface="Lato" panose="020F0502020204030203" pitchFamily="34" charset="0"/>
              </a:rPr>
              <a:t>git diff (helps to review changes)</a:t>
            </a:r>
          </a:p>
          <a:p>
            <a:pPr algn="l"/>
            <a:r>
              <a:rPr lang="en-CA" dirty="0" smtClean="0">
                <a:solidFill>
                  <a:schemeClr val="tx2"/>
                </a:solidFill>
                <a:latin typeface="Lato" panose="020F0502020204030203" pitchFamily="34" charset="0"/>
              </a:rPr>
              <a:t> </a:t>
            </a:r>
            <a:r>
              <a:rPr lang="en-CA" dirty="0">
                <a:solidFill>
                  <a:schemeClr val="tx2"/>
                </a:solidFill>
                <a:latin typeface="Lato" panose="020F0502020204030203" pitchFamily="34" charset="0"/>
              </a:rPr>
              <a:t>git diff --staged (Press q to quit)</a:t>
            </a:r>
            <a:r>
              <a:rPr lang="en-CA" b="0" i="0" dirty="0">
                <a:solidFill>
                  <a:srgbClr val="404040"/>
                </a:solidFill>
                <a:effectLst/>
                <a:latin typeface="Lato" panose="020F0502020204030204" pitchFamily="34" charset="0"/>
              </a:rPr>
              <a:t/>
            </a:r>
            <a:br>
              <a:rPr lang="en-CA" b="0" i="0" dirty="0">
                <a:solidFill>
                  <a:srgbClr val="404040"/>
                </a:solidFill>
                <a:effectLst/>
                <a:latin typeface="Lato" panose="020F0502020204030204" pitchFamily="34" charset="0"/>
              </a:rPr>
            </a:br>
            <a:endParaRPr lang="en-CA" b="0" i="0" dirty="0">
              <a:solidFill>
                <a:srgbClr val="404040"/>
              </a:solidFill>
              <a:effectLst/>
              <a:latin typeface="Lato" panose="020F0502020204030204" pitchFamily="34" charset="0"/>
            </a:endParaRPr>
          </a:p>
          <a:p>
            <a:endParaRPr lang="en-US" dirty="0"/>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10"/>
          </p:nvPr>
        </p:nvSpPr>
        <p:spPr/>
        <p:txBody>
          <a:bodyPr/>
          <a:lstStyle/>
          <a:p>
            <a:fld id="{360D11B8-E184-47EB-B689-91B87491E864}" type="datetime1">
              <a:rPr lang="en-US" smtClean="0"/>
              <a:t>11/18/2025</a:t>
            </a:fld>
            <a:endParaRPr lang="en-US" dirty="0"/>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10</a:t>
            </a:fld>
            <a:endParaRPr lang="en-US" dirty="0"/>
          </a:p>
        </p:txBody>
      </p:sp>
    </p:spTree>
    <p:extLst>
      <p:ext uri="{BB962C8B-B14F-4D97-AF65-F5344CB8AC3E}">
        <p14:creationId xmlns:p14="http://schemas.microsoft.com/office/powerpoint/2010/main" val="1326098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8C900-1D52-BEAA-2151-D534E2501E83}"/>
              </a:ext>
            </a:extLst>
          </p:cNvPr>
          <p:cNvSpPr>
            <a:spLocks noGrp="1"/>
          </p:cNvSpPr>
          <p:nvPr>
            <p:ph type="title"/>
          </p:nvPr>
        </p:nvSpPr>
        <p:spPr/>
        <p:txBody>
          <a:bodyPr>
            <a:normAutofit/>
          </a:bodyPr>
          <a:lstStyle/>
          <a:p>
            <a:r>
              <a:rPr lang="en-US" dirty="0"/>
              <a:t>Committing a folder</a:t>
            </a:r>
          </a:p>
        </p:txBody>
      </p:sp>
      <p:sp>
        <p:nvSpPr>
          <p:cNvPr id="3" name="Content Placeholder 2">
            <a:extLst>
              <a:ext uri="{FF2B5EF4-FFF2-40B4-BE49-F238E27FC236}">
                <a16:creationId xmlns:a16="http://schemas.microsoft.com/office/drawing/2014/main" id="{8B4E4AF2-84B0-479A-08F3-B8E8F794EDAB}"/>
              </a:ext>
            </a:extLst>
          </p:cNvPr>
          <p:cNvSpPr>
            <a:spLocks noGrp="1"/>
          </p:cNvSpPr>
          <p:nvPr>
            <p:ph idx="1"/>
          </p:nvPr>
        </p:nvSpPr>
        <p:spPr/>
        <p:txBody>
          <a:bodyPr>
            <a:normAutofit/>
          </a:bodyPr>
          <a:lstStyle/>
          <a:p>
            <a:r>
              <a:rPr lang="en-US" dirty="0" err="1"/>
              <a:t>mkdir</a:t>
            </a:r>
            <a:r>
              <a:rPr lang="en-US" dirty="0"/>
              <a:t> temp</a:t>
            </a:r>
          </a:p>
          <a:p>
            <a:r>
              <a:rPr lang="en-US" dirty="0"/>
              <a:t>ls -a</a:t>
            </a:r>
          </a:p>
          <a:p>
            <a:r>
              <a:rPr lang="en-US" dirty="0"/>
              <a:t>git status</a:t>
            </a:r>
          </a:p>
          <a:p>
            <a:r>
              <a:rPr lang="en-US" dirty="0"/>
              <a:t>touch temp/.</a:t>
            </a:r>
            <a:r>
              <a:rPr lang="en-US" dirty="0" err="1"/>
              <a:t>gitkeep</a:t>
            </a:r>
            <a:r>
              <a:rPr lang="en-US" dirty="0"/>
              <a:t> (Create an empty file inside an empty folder)</a:t>
            </a:r>
          </a:p>
          <a:p>
            <a:r>
              <a:rPr lang="en-US" dirty="0"/>
              <a:t>git status</a:t>
            </a:r>
          </a:p>
          <a:p>
            <a:r>
              <a:rPr lang="en-US" dirty="0"/>
              <a:t>git add .</a:t>
            </a:r>
          </a:p>
          <a:p>
            <a:r>
              <a:rPr lang="en-US" dirty="0"/>
              <a:t>git commit -m “Added a temp folder”</a:t>
            </a:r>
          </a:p>
          <a:p>
            <a:r>
              <a:rPr lang="en-US" dirty="0"/>
              <a:t>git status</a:t>
            </a:r>
          </a:p>
        </p:txBody>
      </p:sp>
      <p:sp>
        <p:nvSpPr>
          <p:cNvPr id="4" name="Date Placeholder 3">
            <a:extLst>
              <a:ext uri="{FF2B5EF4-FFF2-40B4-BE49-F238E27FC236}">
                <a16:creationId xmlns:a16="http://schemas.microsoft.com/office/drawing/2014/main" id="{3182339D-D593-58A3-14E1-726B697EDF97}"/>
              </a:ext>
            </a:extLst>
          </p:cNvPr>
          <p:cNvSpPr>
            <a:spLocks noGrp="1"/>
          </p:cNvSpPr>
          <p:nvPr>
            <p:ph type="dt" sz="half" idx="4294967295"/>
          </p:nvPr>
        </p:nvSpPr>
        <p:spPr>
          <a:xfrm>
            <a:off x="0" y="4772025"/>
            <a:ext cx="2133600" cy="273050"/>
          </a:xfrm>
        </p:spPr>
        <p:txBody>
          <a:bodyPr/>
          <a:lstStyle/>
          <a:p>
            <a:fld id="{FDEC4126-B38E-4103-B124-102E4594767A}" type="datetime1">
              <a:rPr lang="en-US" smtClean="0"/>
              <a:t>11/18/2025</a:t>
            </a:fld>
            <a:endParaRPr lang="en-US" dirty="0"/>
          </a:p>
        </p:txBody>
      </p:sp>
      <p:sp>
        <p:nvSpPr>
          <p:cNvPr id="5" name="Footer Placeholder 4">
            <a:extLst>
              <a:ext uri="{FF2B5EF4-FFF2-40B4-BE49-F238E27FC236}">
                <a16:creationId xmlns:a16="http://schemas.microsoft.com/office/drawing/2014/main" id="{856C04FE-0B5D-58A6-04D1-019832253C88}"/>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6" name="Slide Number Placeholder 5">
            <a:extLst>
              <a:ext uri="{FF2B5EF4-FFF2-40B4-BE49-F238E27FC236}">
                <a16:creationId xmlns:a16="http://schemas.microsoft.com/office/drawing/2014/main" id="{C8A51172-AD07-6816-81E8-8507C130671A}"/>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11</a:t>
            </a:fld>
            <a:endParaRPr lang="en-US" dirty="0"/>
          </a:p>
        </p:txBody>
      </p:sp>
    </p:spTree>
    <p:extLst>
      <p:ext uri="{BB962C8B-B14F-4D97-AF65-F5344CB8AC3E}">
        <p14:creationId xmlns:p14="http://schemas.microsoft.com/office/powerpoint/2010/main" val="1899659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C119-935A-287F-6602-984520A79AEA}"/>
              </a:ext>
            </a:extLst>
          </p:cNvPr>
          <p:cNvSpPr>
            <a:spLocks noGrp="1"/>
          </p:cNvSpPr>
          <p:nvPr>
            <p:ph type="title"/>
          </p:nvPr>
        </p:nvSpPr>
        <p:spPr/>
        <p:txBody>
          <a:bodyPr>
            <a:normAutofit/>
          </a:bodyPr>
          <a:lstStyle/>
          <a:p>
            <a:r>
              <a:rPr lang="en-US" dirty="0"/>
              <a:t>Delete Files</a:t>
            </a:r>
          </a:p>
        </p:txBody>
      </p:sp>
      <p:sp>
        <p:nvSpPr>
          <p:cNvPr id="3" name="Content Placeholder 2">
            <a:extLst>
              <a:ext uri="{FF2B5EF4-FFF2-40B4-BE49-F238E27FC236}">
                <a16:creationId xmlns:a16="http://schemas.microsoft.com/office/drawing/2014/main" id="{876E8092-E499-31CF-9E83-F084759FE91B}"/>
              </a:ext>
            </a:extLst>
          </p:cNvPr>
          <p:cNvSpPr>
            <a:spLocks noGrp="1"/>
          </p:cNvSpPr>
          <p:nvPr>
            <p:ph idx="1"/>
          </p:nvPr>
        </p:nvSpPr>
        <p:spPr/>
        <p:txBody>
          <a:bodyPr>
            <a:normAutofit/>
          </a:bodyPr>
          <a:lstStyle/>
          <a:p>
            <a:r>
              <a:rPr lang="en-US" dirty="0"/>
              <a:t>touch </a:t>
            </a:r>
            <a:r>
              <a:rPr lang="en-US" dirty="0" err="1"/>
              <a:t>newfile.txt</a:t>
            </a:r>
            <a:endParaRPr lang="en-US" dirty="0"/>
          </a:p>
          <a:p>
            <a:r>
              <a:rPr lang="en-US" dirty="0"/>
              <a:t>ls -a</a:t>
            </a:r>
          </a:p>
          <a:p>
            <a:r>
              <a:rPr lang="en-US" dirty="0"/>
              <a:t>git status</a:t>
            </a:r>
          </a:p>
          <a:p>
            <a:r>
              <a:rPr lang="en-US" dirty="0"/>
              <a:t>rm </a:t>
            </a:r>
            <a:r>
              <a:rPr lang="en-US" dirty="0" err="1"/>
              <a:t>newfile.txt</a:t>
            </a:r>
            <a:endParaRPr lang="en-US" dirty="0"/>
          </a:p>
          <a:p>
            <a:r>
              <a:rPr lang="en-US" dirty="0"/>
              <a:t>git status</a:t>
            </a:r>
          </a:p>
          <a:p>
            <a:r>
              <a:rPr lang="en-US" dirty="0"/>
              <a:t>Question: Will it be removed?</a:t>
            </a:r>
          </a:p>
        </p:txBody>
      </p:sp>
      <p:sp>
        <p:nvSpPr>
          <p:cNvPr id="4" name="Date Placeholder 3">
            <a:extLst>
              <a:ext uri="{FF2B5EF4-FFF2-40B4-BE49-F238E27FC236}">
                <a16:creationId xmlns:a16="http://schemas.microsoft.com/office/drawing/2014/main" id="{36E1FC37-E0AA-96BF-7498-1AD14B4EEF73}"/>
              </a:ext>
            </a:extLst>
          </p:cNvPr>
          <p:cNvSpPr>
            <a:spLocks noGrp="1"/>
          </p:cNvSpPr>
          <p:nvPr>
            <p:ph type="dt" sz="half" idx="4294967295"/>
          </p:nvPr>
        </p:nvSpPr>
        <p:spPr>
          <a:xfrm>
            <a:off x="0" y="4772025"/>
            <a:ext cx="2133600" cy="273050"/>
          </a:xfrm>
        </p:spPr>
        <p:txBody>
          <a:bodyPr/>
          <a:lstStyle/>
          <a:p>
            <a:fld id="{FDEC4126-B38E-4103-B124-102E4594767A}" type="datetime1">
              <a:rPr lang="en-US" smtClean="0"/>
              <a:t>11/18/2025</a:t>
            </a:fld>
            <a:endParaRPr lang="en-US" dirty="0"/>
          </a:p>
        </p:txBody>
      </p:sp>
      <p:sp>
        <p:nvSpPr>
          <p:cNvPr id="5" name="Footer Placeholder 4">
            <a:extLst>
              <a:ext uri="{FF2B5EF4-FFF2-40B4-BE49-F238E27FC236}">
                <a16:creationId xmlns:a16="http://schemas.microsoft.com/office/drawing/2014/main" id="{4472A646-D2E1-D67F-BCBC-05D484200246}"/>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6" name="Slide Number Placeholder 5">
            <a:extLst>
              <a:ext uri="{FF2B5EF4-FFF2-40B4-BE49-F238E27FC236}">
                <a16:creationId xmlns:a16="http://schemas.microsoft.com/office/drawing/2014/main" id="{BE08679D-226C-369A-7CE5-F17D9B8BB999}"/>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12</a:t>
            </a:fld>
            <a:endParaRPr lang="en-US" dirty="0"/>
          </a:p>
        </p:txBody>
      </p:sp>
    </p:spTree>
    <p:extLst>
      <p:ext uri="{BB962C8B-B14F-4D97-AF65-F5344CB8AC3E}">
        <p14:creationId xmlns:p14="http://schemas.microsoft.com/office/powerpoint/2010/main" val="3550457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C119-935A-287F-6602-984520A79AEA}"/>
              </a:ext>
            </a:extLst>
          </p:cNvPr>
          <p:cNvSpPr>
            <a:spLocks noGrp="1"/>
          </p:cNvSpPr>
          <p:nvPr>
            <p:ph type="title"/>
          </p:nvPr>
        </p:nvSpPr>
        <p:spPr/>
        <p:txBody>
          <a:bodyPr>
            <a:normAutofit/>
          </a:bodyPr>
          <a:lstStyle/>
          <a:p>
            <a:r>
              <a:rPr lang="en-US" dirty="0"/>
              <a:t>Delete Folder</a:t>
            </a:r>
          </a:p>
        </p:txBody>
      </p:sp>
      <p:sp>
        <p:nvSpPr>
          <p:cNvPr id="3" name="Content Placeholder 2">
            <a:extLst>
              <a:ext uri="{FF2B5EF4-FFF2-40B4-BE49-F238E27FC236}">
                <a16:creationId xmlns:a16="http://schemas.microsoft.com/office/drawing/2014/main" id="{876E8092-E499-31CF-9E83-F084759FE91B}"/>
              </a:ext>
            </a:extLst>
          </p:cNvPr>
          <p:cNvSpPr>
            <a:spLocks noGrp="1"/>
          </p:cNvSpPr>
          <p:nvPr>
            <p:ph idx="1"/>
          </p:nvPr>
        </p:nvSpPr>
        <p:spPr/>
        <p:txBody>
          <a:bodyPr>
            <a:normAutofit/>
          </a:bodyPr>
          <a:lstStyle/>
          <a:p>
            <a:r>
              <a:rPr lang="en-US" dirty="0"/>
              <a:t>rm -rf -- temp</a:t>
            </a:r>
          </a:p>
          <a:p>
            <a:r>
              <a:rPr lang="en-US" dirty="0"/>
              <a:t>ls -a</a:t>
            </a:r>
          </a:p>
          <a:p>
            <a:r>
              <a:rPr lang="en-US" dirty="0"/>
              <a:t>git status</a:t>
            </a:r>
          </a:p>
          <a:p>
            <a:r>
              <a:rPr lang="en-US" dirty="0"/>
              <a:t>git add .</a:t>
            </a:r>
          </a:p>
          <a:p>
            <a:r>
              <a:rPr lang="en-US" dirty="0"/>
              <a:t>git commit -m “removed file and folder”</a:t>
            </a:r>
          </a:p>
        </p:txBody>
      </p:sp>
      <p:sp>
        <p:nvSpPr>
          <p:cNvPr id="4" name="Date Placeholder 3">
            <a:extLst>
              <a:ext uri="{FF2B5EF4-FFF2-40B4-BE49-F238E27FC236}">
                <a16:creationId xmlns:a16="http://schemas.microsoft.com/office/drawing/2014/main" id="{36E1FC37-E0AA-96BF-7498-1AD14B4EEF73}"/>
              </a:ext>
            </a:extLst>
          </p:cNvPr>
          <p:cNvSpPr>
            <a:spLocks noGrp="1"/>
          </p:cNvSpPr>
          <p:nvPr>
            <p:ph type="dt" sz="half" idx="4294967295"/>
          </p:nvPr>
        </p:nvSpPr>
        <p:spPr>
          <a:xfrm>
            <a:off x="0" y="4772025"/>
            <a:ext cx="2133600" cy="273050"/>
          </a:xfrm>
        </p:spPr>
        <p:txBody>
          <a:bodyPr/>
          <a:lstStyle/>
          <a:p>
            <a:fld id="{FDEC4126-B38E-4103-B124-102E4594767A}" type="datetime1">
              <a:rPr lang="en-US" smtClean="0"/>
              <a:t>11/18/2025</a:t>
            </a:fld>
            <a:endParaRPr lang="en-US" dirty="0"/>
          </a:p>
        </p:txBody>
      </p:sp>
      <p:sp>
        <p:nvSpPr>
          <p:cNvPr id="5" name="Footer Placeholder 4">
            <a:extLst>
              <a:ext uri="{FF2B5EF4-FFF2-40B4-BE49-F238E27FC236}">
                <a16:creationId xmlns:a16="http://schemas.microsoft.com/office/drawing/2014/main" id="{4472A646-D2E1-D67F-BCBC-05D484200246}"/>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6" name="Slide Number Placeholder 5">
            <a:extLst>
              <a:ext uri="{FF2B5EF4-FFF2-40B4-BE49-F238E27FC236}">
                <a16:creationId xmlns:a16="http://schemas.microsoft.com/office/drawing/2014/main" id="{BE08679D-226C-369A-7CE5-F17D9B8BB999}"/>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13</a:t>
            </a:fld>
            <a:endParaRPr lang="en-US" dirty="0"/>
          </a:p>
        </p:txBody>
      </p:sp>
    </p:spTree>
    <p:extLst>
      <p:ext uri="{BB962C8B-B14F-4D97-AF65-F5344CB8AC3E}">
        <p14:creationId xmlns:p14="http://schemas.microsoft.com/office/powerpoint/2010/main" val="3958841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03364-1711-3F50-5B5D-66F26435448C}"/>
              </a:ext>
            </a:extLst>
          </p:cNvPr>
          <p:cNvSpPr>
            <a:spLocks noGrp="1"/>
          </p:cNvSpPr>
          <p:nvPr>
            <p:ph type="title"/>
          </p:nvPr>
        </p:nvSpPr>
        <p:spPr>
          <a:xfrm>
            <a:off x="200723" y="193725"/>
            <a:ext cx="8943277" cy="705332"/>
          </a:xfrm>
        </p:spPr>
        <p:txBody>
          <a:bodyPr>
            <a:noAutofit/>
          </a:bodyPr>
          <a:lstStyle/>
          <a:p>
            <a:r>
              <a:rPr lang="en-US" sz="3800" dirty="0"/>
              <a:t>Ignore files (For private files not in repo)</a:t>
            </a:r>
          </a:p>
        </p:txBody>
      </p:sp>
      <p:sp>
        <p:nvSpPr>
          <p:cNvPr id="3" name="Content Placeholder 2">
            <a:extLst>
              <a:ext uri="{FF2B5EF4-FFF2-40B4-BE49-F238E27FC236}">
                <a16:creationId xmlns:a16="http://schemas.microsoft.com/office/drawing/2014/main" id="{3F3DDC22-E850-27B5-F08B-175B50D8846D}"/>
              </a:ext>
            </a:extLst>
          </p:cNvPr>
          <p:cNvSpPr>
            <a:spLocks noGrp="1"/>
          </p:cNvSpPr>
          <p:nvPr>
            <p:ph idx="1"/>
          </p:nvPr>
        </p:nvSpPr>
        <p:spPr/>
        <p:txBody>
          <a:bodyPr>
            <a:normAutofit/>
          </a:bodyPr>
          <a:lstStyle/>
          <a:p>
            <a:r>
              <a:rPr lang="en-US" dirty="0" err="1"/>
              <a:t>mkdir</a:t>
            </a:r>
            <a:r>
              <a:rPr lang="en-US" dirty="0"/>
              <a:t> config</a:t>
            </a:r>
          </a:p>
          <a:p>
            <a:r>
              <a:rPr lang="en-US" dirty="0"/>
              <a:t>touch config/</a:t>
            </a:r>
            <a:r>
              <a:rPr lang="en-US" dirty="0" err="1"/>
              <a:t>private.txt</a:t>
            </a:r>
            <a:endParaRPr lang="en-US" dirty="0"/>
          </a:p>
          <a:p>
            <a:r>
              <a:rPr lang="en-US" dirty="0"/>
              <a:t>git status</a:t>
            </a:r>
          </a:p>
          <a:p>
            <a:r>
              <a:rPr lang="en-US" dirty="0"/>
              <a:t>vim .</a:t>
            </a:r>
            <a:r>
              <a:rPr lang="en-US" dirty="0" err="1"/>
              <a:t>gitignore</a:t>
            </a:r>
            <a:r>
              <a:rPr lang="en-US" dirty="0"/>
              <a:t> (config/ - specify files and folders you want to ignore)</a:t>
            </a:r>
          </a:p>
          <a:p>
            <a:r>
              <a:rPr lang="en-US" dirty="0"/>
              <a:t>git status</a:t>
            </a:r>
          </a:p>
          <a:p>
            <a:r>
              <a:rPr lang="en-US" dirty="0"/>
              <a:t>ls -a</a:t>
            </a:r>
          </a:p>
          <a:p>
            <a:r>
              <a:rPr lang="en-US" dirty="0"/>
              <a:t>git add .</a:t>
            </a:r>
          </a:p>
          <a:p>
            <a:r>
              <a:rPr lang="en-US" dirty="0"/>
              <a:t>git commit -m “Added </a:t>
            </a:r>
            <a:r>
              <a:rPr lang="en-US" dirty="0" err="1"/>
              <a:t>gitignore</a:t>
            </a:r>
            <a:r>
              <a:rPr lang="en-US" dirty="0"/>
              <a:t> config”</a:t>
            </a:r>
          </a:p>
          <a:p>
            <a:r>
              <a:rPr lang="en-US" dirty="0"/>
              <a:t>git status</a:t>
            </a:r>
          </a:p>
          <a:p>
            <a:endParaRPr lang="en-US" dirty="0"/>
          </a:p>
        </p:txBody>
      </p:sp>
      <p:sp>
        <p:nvSpPr>
          <p:cNvPr id="4" name="Date Placeholder 3">
            <a:extLst>
              <a:ext uri="{FF2B5EF4-FFF2-40B4-BE49-F238E27FC236}">
                <a16:creationId xmlns:a16="http://schemas.microsoft.com/office/drawing/2014/main" id="{B4FE5B64-FEE8-D6E1-8F94-8EAE60D26245}"/>
              </a:ext>
            </a:extLst>
          </p:cNvPr>
          <p:cNvSpPr>
            <a:spLocks noGrp="1"/>
          </p:cNvSpPr>
          <p:nvPr>
            <p:ph type="dt" sz="half" idx="4294967295"/>
          </p:nvPr>
        </p:nvSpPr>
        <p:spPr>
          <a:xfrm>
            <a:off x="0" y="4772025"/>
            <a:ext cx="2133600" cy="273050"/>
          </a:xfrm>
        </p:spPr>
        <p:txBody>
          <a:bodyPr/>
          <a:lstStyle/>
          <a:p>
            <a:fld id="{FDEC4126-B38E-4103-B124-102E4594767A}" type="datetime1">
              <a:rPr lang="en-US" smtClean="0"/>
              <a:t>11/18/2025</a:t>
            </a:fld>
            <a:endParaRPr lang="en-US" dirty="0"/>
          </a:p>
        </p:txBody>
      </p:sp>
      <p:sp>
        <p:nvSpPr>
          <p:cNvPr id="5" name="Footer Placeholder 4">
            <a:extLst>
              <a:ext uri="{FF2B5EF4-FFF2-40B4-BE49-F238E27FC236}">
                <a16:creationId xmlns:a16="http://schemas.microsoft.com/office/drawing/2014/main" id="{44AB8A2B-6004-9C7A-A89B-F0F0848A9FB5}"/>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6" name="Slide Number Placeholder 5">
            <a:extLst>
              <a:ext uri="{FF2B5EF4-FFF2-40B4-BE49-F238E27FC236}">
                <a16:creationId xmlns:a16="http://schemas.microsoft.com/office/drawing/2014/main" id="{B4C3AD7E-01DF-C1FF-F1A7-46E6C21CEA20}"/>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14</a:t>
            </a:fld>
            <a:endParaRPr lang="en-US" dirty="0"/>
          </a:p>
        </p:txBody>
      </p:sp>
    </p:spTree>
    <p:extLst>
      <p:ext uri="{BB962C8B-B14F-4D97-AF65-F5344CB8AC3E}">
        <p14:creationId xmlns:p14="http://schemas.microsoft.com/office/powerpoint/2010/main" val="2453931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F6002-B76D-99B0-21D3-E83683440618}"/>
              </a:ext>
            </a:extLst>
          </p:cNvPr>
          <p:cNvSpPr>
            <a:spLocks noGrp="1"/>
          </p:cNvSpPr>
          <p:nvPr>
            <p:ph type="title"/>
          </p:nvPr>
        </p:nvSpPr>
        <p:spPr/>
        <p:txBody>
          <a:bodyPr anchor="ctr">
            <a:normAutofit/>
          </a:bodyPr>
          <a:lstStyle/>
          <a:p>
            <a:pPr marL="36576" indent="0">
              <a:lnSpc>
                <a:spcPct val="90000"/>
              </a:lnSpc>
              <a:buNone/>
            </a:pPr>
            <a:r>
              <a:rPr lang="en-US" sz="4000" dirty="0"/>
              <a:t>Git Branch </a:t>
            </a:r>
          </a:p>
        </p:txBody>
      </p:sp>
      <p:sp>
        <p:nvSpPr>
          <p:cNvPr id="2" name="Content Placeholder 2">
            <a:extLst>
              <a:ext uri="{FF2B5EF4-FFF2-40B4-BE49-F238E27FC236}">
                <a16:creationId xmlns:a16="http://schemas.microsoft.com/office/drawing/2014/main" id="{FDF83462-391F-84B4-93FC-66C29565E02D}"/>
              </a:ext>
            </a:extLst>
          </p:cNvPr>
          <p:cNvSpPr>
            <a:spLocks noGrp="1"/>
          </p:cNvSpPr>
          <p:nvPr>
            <p:ph idx="1"/>
          </p:nvPr>
        </p:nvSpPr>
        <p:spPr>
          <a:xfrm>
            <a:off x="457200" y="1063229"/>
            <a:ext cx="7467600" cy="3262788"/>
          </a:xfrm>
        </p:spPr>
        <p:txBody>
          <a:bodyPr>
            <a:normAutofit lnSpcReduction="10000"/>
          </a:bodyPr>
          <a:lstStyle/>
          <a:p>
            <a:r>
              <a:rPr lang="en-US" dirty="0"/>
              <a:t>git checkout -b feature/new-table</a:t>
            </a:r>
          </a:p>
          <a:p>
            <a:r>
              <a:rPr lang="en-US" dirty="0"/>
              <a:t>git status</a:t>
            </a:r>
          </a:p>
          <a:p>
            <a:r>
              <a:rPr lang="en-US" dirty="0"/>
              <a:t>vim </a:t>
            </a:r>
            <a:r>
              <a:rPr lang="en-US" dirty="0" err="1"/>
              <a:t>index.html</a:t>
            </a:r>
            <a:r>
              <a:rPr lang="en-US" dirty="0"/>
              <a:t> (Make some changes in the branch feature/new-table)</a:t>
            </a:r>
          </a:p>
          <a:p>
            <a:r>
              <a:rPr lang="en-US" dirty="0"/>
              <a:t>git add .</a:t>
            </a:r>
          </a:p>
          <a:p>
            <a:r>
              <a:rPr lang="en-US" dirty="0"/>
              <a:t>g</a:t>
            </a:r>
            <a:r>
              <a:rPr lang="en-US"/>
              <a:t>it </a:t>
            </a:r>
            <a:r>
              <a:rPr lang="en-US" dirty="0"/>
              <a:t>commit -m “Added a table”</a:t>
            </a:r>
          </a:p>
          <a:p>
            <a:r>
              <a:rPr lang="en-US" dirty="0"/>
              <a:t>cat </a:t>
            </a:r>
            <a:r>
              <a:rPr lang="en-US" dirty="0" err="1"/>
              <a:t>index.html</a:t>
            </a:r>
            <a:endParaRPr lang="en-US" dirty="0"/>
          </a:p>
          <a:p>
            <a:r>
              <a:rPr lang="en-US" dirty="0"/>
              <a:t>git checkout master</a:t>
            </a:r>
          </a:p>
          <a:p>
            <a:r>
              <a:rPr lang="en-US" dirty="0"/>
              <a:t>cat </a:t>
            </a:r>
            <a:r>
              <a:rPr lang="en-US" dirty="0" err="1"/>
              <a:t>index.html</a:t>
            </a:r>
            <a:endParaRPr lang="en-US" dirty="0"/>
          </a:p>
          <a:p>
            <a:r>
              <a:rPr lang="en-US" dirty="0"/>
              <a:t>git checkout feature/new-table</a:t>
            </a:r>
          </a:p>
          <a:p>
            <a:r>
              <a:rPr lang="en-US" dirty="0"/>
              <a:t>git branch -d feature/new-table</a:t>
            </a:r>
          </a:p>
        </p:txBody>
      </p:sp>
      <p:sp>
        <p:nvSpPr>
          <p:cNvPr id="5" name="Date Placeholder 4">
            <a:extLst>
              <a:ext uri="{FF2B5EF4-FFF2-40B4-BE49-F238E27FC236}">
                <a16:creationId xmlns:a16="http://schemas.microsoft.com/office/drawing/2014/main" id="{B6F62F6E-60A0-8FFC-551E-506303FABA54}"/>
              </a:ext>
            </a:extLst>
          </p:cNvPr>
          <p:cNvSpPr>
            <a:spLocks noGrp="1"/>
          </p:cNvSpPr>
          <p:nvPr>
            <p:ph type="dt" sz="half" idx="4294967295"/>
          </p:nvPr>
        </p:nvSpPr>
        <p:spPr>
          <a:xfrm>
            <a:off x="0" y="4772025"/>
            <a:ext cx="2133600" cy="273050"/>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11/18/2025</a:t>
            </a:fld>
            <a:endParaRPr lang="en-US"/>
          </a:p>
        </p:txBody>
      </p:sp>
      <p:sp>
        <p:nvSpPr>
          <p:cNvPr id="6" name="Footer Placeholder 5">
            <a:extLst>
              <a:ext uri="{FF2B5EF4-FFF2-40B4-BE49-F238E27FC236}">
                <a16:creationId xmlns:a16="http://schemas.microsoft.com/office/drawing/2014/main" id="{A022E6AF-42DB-A2D2-413C-0A8C73A0820E}"/>
              </a:ext>
            </a:extLst>
          </p:cNvPr>
          <p:cNvSpPr>
            <a:spLocks noGrp="1"/>
          </p:cNvSpPr>
          <p:nvPr>
            <p:ph type="ftr" sz="quarter" idx="4294967295"/>
          </p:nvPr>
        </p:nvSpPr>
        <p:spPr>
          <a:xfrm>
            <a:off x="6248400" y="4767263"/>
            <a:ext cx="2895600" cy="274637"/>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FF582077-8D3C-C748-8A19-5AC6E907F498}"/>
              </a:ext>
            </a:extLst>
          </p:cNvPr>
          <p:cNvSpPr>
            <a:spLocks noGrp="1"/>
          </p:cNvSpPr>
          <p:nvPr>
            <p:ph type="sldNum" sz="quarter" idx="4294967295"/>
          </p:nvPr>
        </p:nvSpPr>
        <p:spPr>
          <a:xfrm>
            <a:off x="8642350" y="4767263"/>
            <a:ext cx="501650" cy="274637"/>
          </a:xfrm>
        </p:spPr>
        <p:txBody>
          <a:bodyPr anchor="ctr">
            <a:normAutofit fontScale="77500" lnSpcReduction="20000"/>
          </a:bodyPr>
          <a:lstStyle/>
          <a:p>
            <a:pPr>
              <a:lnSpc>
                <a:spcPct val="90000"/>
              </a:lnSpc>
              <a:spcAft>
                <a:spcPts val="600"/>
              </a:spcAft>
            </a:pPr>
            <a:fld id="{17918391-D411-FE40-AAD7-861AE5233E0E}" type="slidenum">
              <a:rPr lang="en-US" smtClean="0"/>
              <a:pPr>
                <a:lnSpc>
                  <a:spcPct val="90000"/>
                </a:lnSpc>
                <a:spcAft>
                  <a:spcPts val="600"/>
                </a:spcAft>
              </a:pPr>
              <a:t>15</a:t>
            </a:fld>
            <a:endParaRPr lang="en-US"/>
          </a:p>
        </p:txBody>
      </p:sp>
    </p:spTree>
    <p:extLst>
      <p:ext uri="{BB962C8B-B14F-4D97-AF65-F5344CB8AC3E}">
        <p14:creationId xmlns:p14="http://schemas.microsoft.com/office/powerpoint/2010/main" val="1212586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6D41-0552-606A-97E6-B20822FB2F41}"/>
              </a:ext>
            </a:extLst>
          </p:cNvPr>
          <p:cNvSpPr>
            <a:spLocks noGrp="1"/>
          </p:cNvSpPr>
          <p:nvPr>
            <p:ph type="title"/>
          </p:nvPr>
        </p:nvSpPr>
        <p:spPr/>
        <p:txBody>
          <a:bodyPr>
            <a:normAutofit/>
          </a:bodyPr>
          <a:lstStyle/>
          <a:p>
            <a:r>
              <a:rPr lang="en-US" dirty="0"/>
              <a:t>Git Merge</a:t>
            </a:r>
          </a:p>
        </p:txBody>
      </p:sp>
      <p:sp>
        <p:nvSpPr>
          <p:cNvPr id="3" name="Content Placeholder 2">
            <a:extLst>
              <a:ext uri="{FF2B5EF4-FFF2-40B4-BE49-F238E27FC236}">
                <a16:creationId xmlns:a16="http://schemas.microsoft.com/office/drawing/2014/main" id="{159F439D-1BBE-7283-0FD0-4FF0BEB05A5D}"/>
              </a:ext>
            </a:extLst>
          </p:cNvPr>
          <p:cNvSpPr>
            <a:spLocks noGrp="1"/>
          </p:cNvSpPr>
          <p:nvPr>
            <p:ph idx="1"/>
          </p:nvPr>
        </p:nvSpPr>
        <p:spPr/>
        <p:txBody>
          <a:bodyPr>
            <a:normAutofit/>
          </a:bodyPr>
          <a:lstStyle/>
          <a:p>
            <a:pPr marL="36576" indent="0">
              <a:buNone/>
            </a:pPr>
            <a:r>
              <a:rPr lang="en-US" dirty="0"/>
              <a:t>1. Fast-forward merge</a:t>
            </a:r>
          </a:p>
          <a:p>
            <a:r>
              <a:rPr lang="en-US" dirty="0"/>
              <a:t>git checkout master</a:t>
            </a:r>
          </a:p>
          <a:p>
            <a:r>
              <a:rPr lang="en-US" dirty="0"/>
              <a:t>git merge feature/new-table</a:t>
            </a:r>
          </a:p>
          <a:p>
            <a:r>
              <a:rPr lang="en-US" dirty="0"/>
              <a:t>git log</a:t>
            </a:r>
          </a:p>
          <a:p>
            <a:r>
              <a:rPr lang="en-US" dirty="0"/>
              <a:t>git branch</a:t>
            </a:r>
          </a:p>
          <a:p>
            <a:r>
              <a:rPr lang="en-US" dirty="0"/>
              <a:t>git branch -d feature/new-table</a:t>
            </a:r>
          </a:p>
        </p:txBody>
      </p:sp>
      <p:sp>
        <p:nvSpPr>
          <p:cNvPr id="4" name="Date Placeholder 3">
            <a:extLst>
              <a:ext uri="{FF2B5EF4-FFF2-40B4-BE49-F238E27FC236}">
                <a16:creationId xmlns:a16="http://schemas.microsoft.com/office/drawing/2014/main" id="{97AB8568-2C66-B5DB-A16A-3D017ABCD862}"/>
              </a:ext>
            </a:extLst>
          </p:cNvPr>
          <p:cNvSpPr>
            <a:spLocks noGrp="1"/>
          </p:cNvSpPr>
          <p:nvPr>
            <p:ph type="dt" sz="half" idx="4294967295"/>
          </p:nvPr>
        </p:nvSpPr>
        <p:spPr>
          <a:xfrm>
            <a:off x="0" y="4772025"/>
            <a:ext cx="2133600" cy="273050"/>
          </a:xfrm>
        </p:spPr>
        <p:txBody>
          <a:bodyPr/>
          <a:lstStyle/>
          <a:p>
            <a:fld id="{FDEC4126-B38E-4103-B124-102E4594767A}" type="datetime1">
              <a:rPr lang="en-US" smtClean="0"/>
              <a:t>11/18/2025</a:t>
            </a:fld>
            <a:endParaRPr lang="en-US" dirty="0"/>
          </a:p>
        </p:txBody>
      </p:sp>
      <p:sp>
        <p:nvSpPr>
          <p:cNvPr id="5" name="Footer Placeholder 4">
            <a:extLst>
              <a:ext uri="{FF2B5EF4-FFF2-40B4-BE49-F238E27FC236}">
                <a16:creationId xmlns:a16="http://schemas.microsoft.com/office/drawing/2014/main" id="{53C1A992-EA6E-1896-0E39-0CE4DB714485}"/>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6" name="Slide Number Placeholder 5">
            <a:extLst>
              <a:ext uri="{FF2B5EF4-FFF2-40B4-BE49-F238E27FC236}">
                <a16:creationId xmlns:a16="http://schemas.microsoft.com/office/drawing/2014/main" id="{0F1CD429-62D9-0212-D9C0-89B4014B0A31}"/>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16</a:t>
            </a:fld>
            <a:endParaRPr lang="en-US" dirty="0"/>
          </a:p>
        </p:txBody>
      </p:sp>
    </p:spTree>
    <p:extLst>
      <p:ext uri="{BB962C8B-B14F-4D97-AF65-F5344CB8AC3E}">
        <p14:creationId xmlns:p14="http://schemas.microsoft.com/office/powerpoint/2010/main" val="2983829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p:txBody>
          <a:bodyPr anchor="ctr">
            <a:normAutofit/>
          </a:bodyPr>
          <a:lstStyle/>
          <a:p>
            <a:pPr>
              <a:lnSpc>
                <a:spcPct val="90000"/>
              </a:lnSpc>
            </a:pPr>
            <a:r>
              <a:rPr lang="en-US" sz="4000" dirty="0"/>
              <a:t>Fast-forward Merge</a:t>
            </a:r>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4294967295"/>
          </p:nvPr>
        </p:nvSpPr>
        <p:spPr>
          <a:xfrm>
            <a:off x="0" y="4772025"/>
            <a:ext cx="2133600" cy="273050"/>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11/18/2025</a:t>
            </a:fld>
            <a:endParaRPr lang="en-US"/>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4294967295"/>
          </p:nvPr>
        </p:nvSpPr>
        <p:spPr>
          <a:xfrm>
            <a:off x="6248400" y="4767263"/>
            <a:ext cx="2895600" cy="274637"/>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294967295"/>
          </p:nvPr>
        </p:nvSpPr>
        <p:spPr>
          <a:xfrm>
            <a:off x="8642350" y="4767263"/>
            <a:ext cx="501650" cy="274637"/>
          </a:xfrm>
        </p:spPr>
        <p:txBody>
          <a:bodyPr anchor="ctr">
            <a:normAutofit fontScale="77500" lnSpcReduction="20000"/>
          </a:bodyPr>
          <a:lstStyle/>
          <a:p>
            <a:pPr>
              <a:lnSpc>
                <a:spcPct val="90000"/>
              </a:lnSpc>
              <a:spcAft>
                <a:spcPts val="600"/>
              </a:spcAft>
            </a:pPr>
            <a:fld id="{17918391-D411-FE40-AAD7-861AE5233E0E}" type="slidenum">
              <a:rPr lang="en-US" smtClean="0"/>
              <a:pPr>
                <a:lnSpc>
                  <a:spcPct val="90000"/>
                </a:lnSpc>
                <a:spcAft>
                  <a:spcPts val="600"/>
                </a:spcAft>
              </a:pPr>
              <a:t>17</a:t>
            </a:fld>
            <a:endParaRPr lang="en-US"/>
          </a:p>
        </p:txBody>
      </p:sp>
      <p:pic>
        <p:nvPicPr>
          <p:cNvPr id="3076" name="Picture 4" descr="What Is a Git Merge Fast Forward?">
            <a:extLst>
              <a:ext uri="{FF2B5EF4-FFF2-40B4-BE49-F238E27FC236}">
                <a16:creationId xmlns:a16="http://schemas.microsoft.com/office/drawing/2014/main" id="{AB0DCA69-6A90-9D39-400A-CE6060E2C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660" y="296176"/>
            <a:ext cx="7472428" cy="4278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453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6D41-0552-606A-97E6-B20822FB2F41}"/>
              </a:ext>
            </a:extLst>
          </p:cNvPr>
          <p:cNvSpPr>
            <a:spLocks noGrp="1"/>
          </p:cNvSpPr>
          <p:nvPr>
            <p:ph type="title"/>
          </p:nvPr>
        </p:nvSpPr>
        <p:spPr/>
        <p:txBody>
          <a:bodyPr>
            <a:normAutofit/>
          </a:bodyPr>
          <a:lstStyle/>
          <a:p>
            <a:r>
              <a:rPr lang="en-US" dirty="0"/>
              <a:t>Git Merge</a:t>
            </a:r>
          </a:p>
        </p:txBody>
      </p:sp>
      <p:sp>
        <p:nvSpPr>
          <p:cNvPr id="3" name="Content Placeholder 2">
            <a:extLst>
              <a:ext uri="{FF2B5EF4-FFF2-40B4-BE49-F238E27FC236}">
                <a16:creationId xmlns:a16="http://schemas.microsoft.com/office/drawing/2014/main" id="{159F439D-1BBE-7283-0FD0-4FF0BEB05A5D}"/>
              </a:ext>
            </a:extLst>
          </p:cNvPr>
          <p:cNvSpPr>
            <a:spLocks noGrp="1"/>
          </p:cNvSpPr>
          <p:nvPr>
            <p:ph idx="1"/>
          </p:nvPr>
        </p:nvSpPr>
        <p:spPr/>
        <p:txBody>
          <a:bodyPr>
            <a:normAutofit lnSpcReduction="10000"/>
          </a:bodyPr>
          <a:lstStyle/>
          <a:p>
            <a:pPr marL="36576" indent="0">
              <a:buNone/>
            </a:pPr>
            <a:r>
              <a:rPr lang="en-US" dirty="0"/>
              <a:t>2. Advance merge</a:t>
            </a:r>
          </a:p>
          <a:p>
            <a:r>
              <a:rPr lang="en-US" dirty="0"/>
              <a:t>git checkout -b bugfix/table</a:t>
            </a:r>
          </a:p>
          <a:p>
            <a:r>
              <a:rPr lang="en-US" dirty="0"/>
              <a:t>vim </a:t>
            </a:r>
            <a:r>
              <a:rPr lang="en-US" dirty="0" err="1"/>
              <a:t>index.html</a:t>
            </a:r>
            <a:endParaRPr lang="en-US" dirty="0"/>
          </a:p>
          <a:p>
            <a:r>
              <a:rPr lang="en-US" dirty="0"/>
              <a:t>git add .</a:t>
            </a:r>
          </a:p>
          <a:p>
            <a:r>
              <a:rPr lang="en-US" dirty="0"/>
              <a:t>git status</a:t>
            </a:r>
          </a:p>
          <a:p>
            <a:r>
              <a:rPr lang="en-US" dirty="0"/>
              <a:t>git commit -m “Added table cell”</a:t>
            </a:r>
          </a:p>
          <a:p>
            <a:r>
              <a:rPr lang="en-US" dirty="0"/>
              <a:t>git checkout master</a:t>
            </a:r>
          </a:p>
          <a:p>
            <a:r>
              <a:rPr lang="en-US" dirty="0"/>
              <a:t>vim </a:t>
            </a:r>
            <a:r>
              <a:rPr lang="en-US" dirty="0" err="1"/>
              <a:t>readme.md</a:t>
            </a:r>
            <a:r>
              <a:rPr lang="en-US" dirty="0"/>
              <a:t> (I am learning and merging)</a:t>
            </a:r>
          </a:p>
          <a:p>
            <a:r>
              <a:rPr lang="en-US" dirty="0"/>
              <a:t>git add .</a:t>
            </a:r>
          </a:p>
          <a:p>
            <a:r>
              <a:rPr lang="en-US" dirty="0"/>
              <a:t>git commit -m “Learning branching”</a:t>
            </a:r>
          </a:p>
        </p:txBody>
      </p:sp>
      <p:sp>
        <p:nvSpPr>
          <p:cNvPr id="4" name="Date Placeholder 3">
            <a:extLst>
              <a:ext uri="{FF2B5EF4-FFF2-40B4-BE49-F238E27FC236}">
                <a16:creationId xmlns:a16="http://schemas.microsoft.com/office/drawing/2014/main" id="{97AB8568-2C66-B5DB-A16A-3D017ABCD862}"/>
              </a:ext>
            </a:extLst>
          </p:cNvPr>
          <p:cNvSpPr>
            <a:spLocks noGrp="1"/>
          </p:cNvSpPr>
          <p:nvPr>
            <p:ph type="dt" sz="half" idx="4294967295"/>
          </p:nvPr>
        </p:nvSpPr>
        <p:spPr>
          <a:xfrm>
            <a:off x="0" y="4772025"/>
            <a:ext cx="2133600" cy="273050"/>
          </a:xfrm>
        </p:spPr>
        <p:txBody>
          <a:bodyPr/>
          <a:lstStyle/>
          <a:p>
            <a:fld id="{FDEC4126-B38E-4103-B124-102E4594767A}" type="datetime1">
              <a:rPr lang="en-US" smtClean="0"/>
              <a:t>11/18/2025</a:t>
            </a:fld>
            <a:endParaRPr lang="en-US" dirty="0"/>
          </a:p>
        </p:txBody>
      </p:sp>
      <p:sp>
        <p:nvSpPr>
          <p:cNvPr id="5" name="Footer Placeholder 4">
            <a:extLst>
              <a:ext uri="{FF2B5EF4-FFF2-40B4-BE49-F238E27FC236}">
                <a16:creationId xmlns:a16="http://schemas.microsoft.com/office/drawing/2014/main" id="{53C1A992-EA6E-1896-0E39-0CE4DB714485}"/>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6" name="Slide Number Placeholder 5">
            <a:extLst>
              <a:ext uri="{FF2B5EF4-FFF2-40B4-BE49-F238E27FC236}">
                <a16:creationId xmlns:a16="http://schemas.microsoft.com/office/drawing/2014/main" id="{0F1CD429-62D9-0212-D9C0-89B4014B0A31}"/>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18</a:t>
            </a:fld>
            <a:endParaRPr lang="en-US" dirty="0"/>
          </a:p>
        </p:txBody>
      </p:sp>
    </p:spTree>
    <p:extLst>
      <p:ext uri="{BB962C8B-B14F-4D97-AF65-F5344CB8AC3E}">
        <p14:creationId xmlns:p14="http://schemas.microsoft.com/office/powerpoint/2010/main" val="498668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6D41-0552-606A-97E6-B20822FB2F41}"/>
              </a:ext>
            </a:extLst>
          </p:cNvPr>
          <p:cNvSpPr>
            <a:spLocks noGrp="1"/>
          </p:cNvSpPr>
          <p:nvPr>
            <p:ph type="title"/>
          </p:nvPr>
        </p:nvSpPr>
        <p:spPr/>
        <p:txBody>
          <a:bodyPr>
            <a:normAutofit/>
          </a:bodyPr>
          <a:lstStyle/>
          <a:p>
            <a:r>
              <a:rPr lang="en-US" dirty="0"/>
              <a:t>Git Merge</a:t>
            </a:r>
          </a:p>
        </p:txBody>
      </p:sp>
      <p:sp>
        <p:nvSpPr>
          <p:cNvPr id="3" name="Content Placeholder 2">
            <a:extLst>
              <a:ext uri="{FF2B5EF4-FFF2-40B4-BE49-F238E27FC236}">
                <a16:creationId xmlns:a16="http://schemas.microsoft.com/office/drawing/2014/main" id="{159F439D-1BBE-7283-0FD0-4FF0BEB05A5D}"/>
              </a:ext>
            </a:extLst>
          </p:cNvPr>
          <p:cNvSpPr>
            <a:spLocks noGrp="1"/>
          </p:cNvSpPr>
          <p:nvPr>
            <p:ph idx="1"/>
          </p:nvPr>
        </p:nvSpPr>
        <p:spPr>
          <a:xfrm>
            <a:off x="457200" y="880452"/>
            <a:ext cx="8229600" cy="3405613"/>
          </a:xfrm>
        </p:spPr>
        <p:txBody>
          <a:bodyPr>
            <a:noAutofit/>
          </a:bodyPr>
          <a:lstStyle/>
          <a:p>
            <a:pPr marL="36576" indent="0">
              <a:buNone/>
            </a:pPr>
            <a:r>
              <a:rPr lang="en-US" sz="1200" dirty="0"/>
              <a:t>2. Advance merge - continue… (Rebase Commits)</a:t>
            </a:r>
          </a:p>
          <a:p>
            <a:r>
              <a:rPr lang="en-US" sz="1200" dirty="0"/>
              <a:t>git checkout -b bugfix/table-2</a:t>
            </a:r>
          </a:p>
          <a:p>
            <a:r>
              <a:rPr lang="en-US" sz="1200" dirty="0"/>
              <a:t>vim </a:t>
            </a:r>
            <a:r>
              <a:rPr lang="en-US" sz="1200" dirty="0" err="1"/>
              <a:t>index.html</a:t>
            </a:r>
            <a:endParaRPr lang="en-US" sz="1200" dirty="0"/>
          </a:p>
          <a:p>
            <a:r>
              <a:rPr lang="en-US" sz="1200" dirty="0"/>
              <a:t>git add .</a:t>
            </a:r>
          </a:p>
          <a:p>
            <a:r>
              <a:rPr lang="en-US" sz="1200" dirty="0"/>
              <a:t>git commit -m “Added 2</a:t>
            </a:r>
            <a:r>
              <a:rPr lang="en-US" sz="1200" baseline="30000" dirty="0"/>
              <a:t>nd</a:t>
            </a:r>
            <a:r>
              <a:rPr lang="en-US" sz="1200" dirty="0"/>
              <a:t> cell”</a:t>
            </a:r>
          </a:p>
          <a:p>
            <a:r>
              <a:rPr lang="en-US" sz="1200" dirty="0"/>
              <a:t>git checkout master</a:t>
            </a:r>
          </a:p>
          <a:p>
            <a:r>
              <a:rPr lang="en-US" sz="1200" dirty="0"/>
              <a:t>vim </a:t>
            </a:r>
            <a:r>
              <a:rPr lang="en-US" sz="1200" dirty="0" err="1"/>
              <a:t>readme.md</a:t>
            </a:r>
            <a:r>
              <a:rPr lang="en-US" sz="1200" dirty="0"/>
              <a:t> (“I am learning, merging and rebasing”)</a:t>
            </a:r>
          </a:p>
          <a:p>
            <a:r>
              <a:rPr lang="en-US" sz="1200" dirty="0"/>
              <a:t>git add .</a:t>
            </a:r>
          </a:p>
          <a:p>
            <a:r>
              <a:rPr lang="en-US" sz="1200" dirty="0"/>
              <a:t>git commit -m “Learning rebasing”</a:t>
            </a:r>
          </a:p>
          <a:p>
            <a:r>
              <a:rPr lang="en-US" sz="1200" dirty="0"/>
              <a:t>git checkout bugfix/table-2</a:t>
            </a:r>
          </a:p>
          <a:p>
            <a:r>
              <a:rPr lang="en-US" sz="1200" dirty="0"/>
              <a:t>git log</a:t>
            </a:r>
          </a:p>
          <a:p>
            <a:r>
              <a:rPr lang="en-US" sz="1200" dirty="0"/>
              <a:t>git rebase master</a:t>
            </a:r>
          </a:p>
          <a:p>
            <a:r>
              <a:rPr lang="en-US" sz="1200" dirty="0"/>
              <a:t>git log</a:t>
            </a:r>
          </a:p>
          <a:p>
            <a:r>
              <a:rPr lang="en-US" sz="1200" dirty="0"/>
              <a:t>git checkout master</a:t>
            </a:r>
          </a:p>
          <a:p>
            <a:r>
              <a:rPr lang="en-US" sz="1200" dirty="0"/>
              <a:t>git merge bugfix/table-2</a:t>
            </a:r>
          </a:p>
        </p:txBody>
      </p:sp>
      <p:sp>
        <p:nvSpPr>
          <p:cNvPr id="4" name="Date Placeholder 3">
            <a:extLst>
              <a:ext uri="{FF2B5EF4-FFF2-40B4-BE49-F238E27FC236}">
                <a16:creationId xmlns:a16="http://schemas.microsoft.com/office/drawing/2014/main" id="{97AB8568-2C66-B5DB-A16A-3D017ABCD862}"/>
              </a:ext>
            </a:extLst>
          </p:cNvPr>
          <p:cNvSpPr>
            <a:spLocks noGrp="1"/>
          </p:cNvSpPr>
          <p:nvPr>
            <p:ph type="dt" sz="half" idx="4294967295"/>
          </p:nvPr>
        </p:nvSpPr>
        <p:spPr>
          <a:xfrm>
            <a:off x="0" y="4772025"/>
            <a:ext cx="2133600" cy="273050"/>
          </a:xfrm>
        </p:spPr>
        <p:txBody>
          <a:bodyPr/>
          <a:lstStyle/>
          <a:p>
            <a:fld id="{FDEC4126-B38E-4103-B124-102E4594767A}" type="datetime1">
              <a:rPr lang="en-US" smtClean="0"/>
              <a:t>11/18/2025</a:t>
            </a:fld>
            <a:endParaRPr lang="en-US" dirty="0"/>
          </a:p>
        </p:txBody>
      </p:sp>
      <p:sp>
        <p:nvSpPr>
          <p:cNvPr id="5" name="Footer Placeholder 4">
            <a:extLst>
              <a:ext uri="{FF2B5EF4-FFF2-40B4-BE49-F238E27FC236}">
                <a16:creationId xmlns:a16="http://schemas.microsoft.com/office/drawing/2014/main" id="{53C1A992-EA6E-1896-0E39-0CE4DB714485}"/>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6" name="Slide Number Placeholder 5">
            <a:extLst>
              <a:ext uri="{FF2B5EF4-FFF2-40B4-BE49-F238E27FC236}">
                <a16:creationId xmlns:a16="http://schemas.microsoft.com/office/drawing/2014/main" id="{0F1CD429-62D9-0212-D9C0-89B4014B0A31}"/>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19</a:t>
            </a:fld>
            <a:endParaRPr lang="en-US" dirty="0"/>
          </a:p>
        </p:txBody>
      </p:sp>
    </p:spTree>
    <p:extLst>
      <p:ext uri="{BB962C8B-B14F-4D97-AF65-F5344CB8AC3E}">
        <p14:creationId xmlns:p14="http://schemas.microsoft.com/office/powerpoint/2010/main" val="3617495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p:txBody>
          <a:bodyPr anchor="ctr">
            <a:normAutofit/>
          </a:bodyPr>
          <a:lstStyle/>
          <a:p>
            <a:pPr>
              <a:lnSpc>
                <a:spcPct val="90000"/>
              </a:lnSpc>
            </a:pPr>
            <a:r>
              <a:rPr lang="en-US" sz="4300"/>
              <a:t>Advanced Merge</a:t>
            </a:r>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4294967295"/>
          </p:nvPr>
        </p:nvSpPr>
        <p:spPr>
          <a:xfrm>
            <a:off x="0" y="4772025"/>
            <a:ext cx="2133600" cy="273050"/>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11/18/2025</a:t>
            </a:fld>
            <a:endParaRPr lang="en-US"/>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4294967295"/>
          </p:nvPr>
        </p:nvSpPr>
        <p:spPr>
          <a:xfrm>
            <a:off x="6248400" y="4767263"/>
            <a:ext cx="2895600" cy="274637"/>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294967295"/>
          </p:nvPr>
        </p:nvSpPr>
        <p:spPr>
          <a:xfrm>
            <a:off x="8642350" y="4767263"/>
            <a:ext cx="501650" cy="274637"/>
          </a:xfrm>
        </p:spPr>
        <p:txBody>
          <a:bodyPr anchor="ctr">
            <a:normAutofit fontScale="77500" lnSpcReduction="20000"/>
          </a:bodyPr>
          <a:lstStyle/>
          <a:p>
            <a:pPr>
              <a:lnSpc>
                <a:spcPct val="90000"/>
              </a:lnSpc>
              <a:spcAft>
                <a:spcPts val="600"/>
              </a:spcAft>
            </a:pPr>
            <a:fld id="{17918391-D411-FE40-AAD7-861AE5233E0E}" type="slidenum">
              <a:rPr lang="en-US" smtClean="0"/>
              <a:pPr>
                <a:lnSpc>
                  <a:spcPct val="90000"/>
                </a:lnSpc>
                <a:spcAft>
                  <a:spcPts val="600"/>
                </a:spcAft>
              </a:pPr>
              <a:t>20</a:t>
            </a:fld>
            <a:endParaRPr lang="en-US"/>
          </a:p>
        </p:txBody>
      </p:sp>
      <p:pic>
        <p:nvPicPr>
          <p:cNvPr id="17" name="Picture 16" descr="A picture containing timeline&#10;&#10;Description automatically generated">
            <a:extLst>
              <a:ext uri="{FF2B5EF4-FFF2-40B4-BE49-F238E27FC236}">
                <a16:creationId xmlns:a16="http://schemas.microsoft.com/office/drawing/2014/main" id="{D8433669-830C-5F52-FACB-052702007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4760" y="994205"/>
            <a:ext cx="5694480" cy="3203145"/>
          </a:xfrm>
          <a:prstGeom prst="rect">
            <a:avLst/>
          </a:prstGeom>
          <a:noFill/>
        </p:spPr>
      </p:pic>
      <p:sp>
        <p:nvSpPr>
          <p:cNvPr id="22" name="Oval 21">
            <a:extLst>
              <a:ext uri="{FF2B5EF4-FFF2-40B4-BE49-F238E27FC236}">
                <a16:creationId xmlns:a16="http://schemas.microsoft.com/office/drawing/2014/main" id="{E43F250D-F8F5-DFDE-165C-6FC11EEDF36A}"/>
              </a:ext>
            </a:extLst>
          </p:cNvPr>
          <p:cNvSpPr/>
          <p:nvPr/>
        </p:nvSpPr>
        <p:spPr>
          <a:xfrm>
            <a:off x="6630556" y="3444658"/>
            <a:ext cx="897586" cy="851769"/>
          </a:xfrm>
          <a:prstGeom prst="ellipse">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45455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p:txBody>
          <a:bodyPr>
            <a:normAutofit/>
          </a:bodyPr>
          <a:lstStyle/>
          <a:p>
            <a:r>
              <a:rPr lang="en-US" sz="4000" dirty="0"/>
              <a:t>Merge Conflicts</a:t>
            </a:r>
          </a:p>
        </p:txBody>
      </p:sp>
      <p:sp>
        <p:nvSpPr>
          <p:cNvPr id="3" name="Content Placeholder 2">
            <a:extLst>
              <a:ext uri="{FF2B5EF4-FFF2-40B4-BE49-F238E27FC236}">
                <a16:creationId xmlns:a16="http://schemas.microsoft.com/office/drawing/2014/main" id="{E02D45AF-B877-7E24-7615-BF380B83004A}"/>
              </a:ext>
            </a:extLst>
          </p:cNvPr>
          <p:cNvSpPr>
            <a:spLocks noGrp="1"/>
          </p:cNvSpPr>
          <p:nvPr>
            <p:ph sz="half" idx="1"/>
          </p:nvPr>
        </p:nvSpPr>
        <p:spPr>
          <a:xfrm>
            <a:off x="457200" y="1063229"/>
            <a:ext cx="7467600" cy="3262788"/>
          </a:xfrm>
        </p:spPr>
        <p:txBody>
          <a:bodyPr/>
          <a:lstStyle/>
          <a:p>
            <a:r>
              <a:rPr lang="en-US" dirty="0"/>
              <a:t>git merge --abort</a:t>
            </a:r>
          </a:p>
          <a:p>
            <a:r>
              <a:rPr lang="en-US" dirty="0"/>
              <a:t>git rebase --abort</a:t>
            </a:r>
          </a:p>
          <a:p>
            <a:r>
              <a:rPr lang="en-US" dirty="0"/>
              <a:t>Go to the IDE (code .) and accept the changes</a:t>
            </a:r>
          </a:p>
          <a:p>
            <a:r>
              <a:rPr lang="en-US" dirty="0"/>
              <a:t>Then merge</a:t>
            </a:r>
          </a:p>
          <a:p>
            <a:r>
              <a:rPr lang="en-US" dirty="0"/>
              <a:t>git checkout master</a:t>
            </a:r>
          </a:p>
          <a:p>
            <a:r>
              <a:rPr lang="en-US" dirty="0"/>
              <a:t>git merge branch2</a:t>
            </a:r>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10"/>
          </p:nvPr>
        </p:nvSpPr>
        <p:spPr/>
        <p:txBody>
          <a:bodyPr/>
          <a:lstStyle/>
          <a:p>
            <a:fld id="{360D11B8-E184-47EB-B689-91B87491E864}" type="datetime1">
              <a:rPr lang="en-US" smtClean="0"/>
              <a:t>11/18/2025</a:t>
            </a:fld>
            <a:endParaRPr lang="en-US" dirty="0"/>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21</a:t>
            </a:fld>
            <a:endParaRPr lang="en-US" dirty="0"/>
          </a:p>
        </p:txBody>
      </p:sp>
    </p:spTree>
    <p:extLst>
      <p:ext uri="{BB962C8B-B14F-4D97-AF65-F5344CB8AC3E}">
        <p14:creationId xmlns:p14="http://schemas.microsoft.com/office/powerpoint/2010/main" val="3356425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fontScale="90000"/>
          </a:bodyPr>
          <a:lstStyle/>
          <a:p>
            <a:r>
              <a:rPr lang="en-US" sz="4000" dirty="0"/>
              <a:t>Remotes in CERN Gitlab- SSH</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176270" y="1200151"/>
            <a:ext cx="8967730" cy="3262788"/>
          </a:xfrm>
        </p:spPr>
        <p:txBody>
          <a:bodyPr>
            <a:normAutofit/>
          </a:bodyPr>
          <a:lstStyle/>
          <a:p>
            <a:pPr>
              <a:buFont typeface="Arial" panose="020B0604020202020204" pitchFamily="34" charset="0"/>
              <a:buChar char="•"/>
            </a:pPr>
            <a:r>
              <a:rPr lang="en-CA" b="1" i="0" dirty="0">
                <a:solidFill>
                  <a:srgbClr val="222261"/>
                </a:solidFill>
                <a:effectLst/>
                <a:latin typeface="-apple-system"/>
              </a:rPr>
              <a:t>Generate an SSH key pair</a:t>
            </a:r>
            <a:r>
              <a:rPr lang="en-US" dirty="0"/>
              <a:t>:</a:t>
            </a:r>
          </a:p>
          <a:p>
            <a:pPr algn="l"/>
            <a:r>
              <a:rPr lang="en-CA" b="0" i="0" dirty="0">
                <a:solidFill>
                  <a:srgbClr val="404040"/>
                </a:solidFill>
                <a:effectLst/>
                <a:latin typeface="-apple-system"/>
              </a:rPr>
              <a:t>For example, for ED25519:</a:t>
            </a:r>
          </a:p>
          <a:p>
            <a:pPr marL="36576" indent="0" algn="l">
              <a:buNone/>
            </a:pPr>
            <a:r>
              <a:rPr lang="en-CA" b="0" i="0" dirty="0">
                <a:solidFill>
                  <a:schemeClr val="tx2"/>
                </a:solidFill>
                <a:effectLst/>
                <a:latin typeface="-apple-system"/>
              </a:rPr>
              <a:t>1.    </a:t>
            </a:r>
            <a:r>
              <a:rPr lang="en-CA" b="0" i="0" dirty="0" err="1">
                <a:solidFill>
                  <a:schemeClr val="tx2"/>
                </a:solidFill>
                <a:effectLst/>
                <a:latin typeface="-apple-system"/>
              </a:rPr>
              <a:t>ssh</a:t>
            </a:r>
            <a:r>
              <a:rPr lang="en-CA" b="0" i="0" dirty="0">
                <a:solidFill>
                  <a:schemeClr val="tx2"/>
                </a:solidFill>
                <a:effectLst/>
                <a:latin typeface="-apple-system"/>
              </a:rPr>
              <a:t>-keygen -t ed25519 -C "&lt;comment&gt;"</a:t>
            </a:r>
          </a:p>
          <a:p>
            <a:pPr algn="l">
              <a:buFont typeface="Arial" panose="020B0604020202020204" pitchFamily="34" charset="0"/>
              <a:buChar char="•"/>
            </a:pPr>
            <a:r>
              <a:rPr lang="en-CA" b="0" i="0" dirty="0">
                <a:solidFill>
                  <a:srgbClr val="404040"/>
                </a:solidFill>
                <a:effectLst/>
                <a:latin typeface="-apple-system"/>
              </a:rPr>
              <a:t>For 2048-bit RSA:</a:t>
            </a:r>
            <a:endParaRPr lang="en-CA" dirty="0">
              <a:solidFill>
                <a:schemeClr val="tx2"/>
              </a:solidFill>
              <a:latin typeface="Arial" panose="020B0604020202020204" pitchFamily="34" charset="0"/>
              <a:cs typeface="Arial" panose="020B0604020202020204" pitchFamily="34" charset="0"/>
            </a:endParaRPr>
          </a:p>
          <a:p>
            <a:pPr marL="36576" indent="0" algn="l">
              <a:buNone/>
            </a:pPr>
            <a:r>
              <a:rPr lang="en-CA" b="0" i="0" dirty="0">
                <a:solidFill>
                  <a:schemeClr val="tx2"/>
                </a:solidFill>
                <a:effectLst/>
                <a:latin typeface="-apple-system"/>
              </a:rPr>
              <a:t>2.    </a:t>
            </a:r>
            <a:r>
              <a:rPr lang="en-CA" b="0" i="0" dirty="0" err="1">
                <a:solidFill>
                  <a:schemeClr val="tx2"/>
                </a:solidFill>
                <a:effectLst/>
                <a:latin typeface="-apple-system"/>
              </a:rPr>
              <a:t>ssh</a:t>
            </a:r>
            <a:r>
              <a:rPr lang="en-CA" b="0" i="0" dirty="0">
                <a:solidFill>
                  <a:schemeClr val="tx2"/>
                </a:solidFill>
                <a:effectLst/>
                <a:latin typeface="-apple-system"/>
              </a:rPr>
              <a:t>-keygen -t </a:t>
            </a:r>
            <a:r>
              <a:rPr lang="en-CA" b="0" i="0" dirty="0" err="1">
                <a:solidFill>
                  <a:schemeClr val="tx2"/>
                </a:solidFill>
                <a:effectLst/>
                <a:latin typeface="-apple-system"/>
              </a:rPr>
              <a:t>rsa</a:t>
            </a:r>
            <a:r>
              <a:rPr lang="en-CA" b="0" i="0" dirty="0">
                <a:solidFill>
                  <a:schemeClr val="tx2"/>
                </a:solidFill>
                <a:effectLst/>
                <a:latin typeface="-apple-system"/>
              </a:rPr>
              <a:t> -b 2048 -C "&lt;comment&gt;" </a:t>
            </a:r>
          </a:p>
          <a:p>
            <a:r>
              <a:rPr lang="en-CA" sz="2200" b="0" i="0" dirty="0">
                <a:solidFill>
                  <a:schemeClr val="accent6"/>
                </a:solidFill>
                <a:effectLst/>
                <a:latin typeface="Arial" panose="020B0604020202020204" pitchFamily="34" charset="0"/>
                <a:cs typeface="Arial" panose="020B0604020202020204" pitchFamily="34" charset="0"/>
              </a:rPr>
              <a:t>Generating public/private ed25519 key pair.</a:t>
            </a:r>
          </a:p>
          <a:p>
            <a:r>
              <a:rPr lang="en-CA" sz="2200" b="0" i="0" dirty="0">
                <a:solidFill>
                  <a:schemeClr val="accent6"/>
                </a:solidFill>
                <a:effectLst/>
                <a:latin typeface="Arial" panose="020B0604020202020204" pitchFamily="34" charset="0"/>
                <a:cs typeface="Arial" panose="020B0604020202020204" pitchFamily="34" charset="0"/>
              </a:rPr>
              <a:t>Enter file in which to save the key (/home/user/.</a:t>
            </a:r>
            <a:r>
              <a:rPr lang="en-CA" sz="2200" b="0" i="0" dirty="0" err="1">
                <a:solidFill>
                  <a:schemeClr val="accent6"/>
                </a:solidFill>
                <a:effectLst/>
                <a:latin typeface="Arial" panose="020B0604020202020204" pitchFamily="34" charset="0"/>
                <a:cs typeface="Arial" panose="020B0604020202020204" pitchFamily="34" charset="0"/>
              </a:rPr>
              <a:t>ssh</a:t>
            </a:r>
            <a:r>
              <a:rPr lang="en-CA" sz="2200" b="0" i="0" dirty="0">
                <a:solidFill>
                  <a:schemeClr val="accent6"/>
                </a:solidFill>
                <a:effectLst/>
                <a:latin typeface="Arial" panose="020B0604020202020204" pitchFamily="34" charset="0"/>
                <a:cs typeface="Arial" panose="020B0604020202020204" pitchFamily="34" charset="0"/>
              </a:rPr>
              <a:t>/id_ed25519):</a:t>
            </a:r>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11/18/2025</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22</a:t>
            </a:fld>
            <a:endParaRPr lang="en-US" dirty="0"/>
          </a:p>
        </p:txBody>
      </p:sp>
    </p:spTree>
    <p:extLst>
      <p:ext uri="{BB962C8B-B14F-4D97-AF65-F5344CB8AC3E}">
        <p14:creationId xmlns:p14="http://schemas.microsoft.com/office/powerpoint/2010/main" val="3017722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DD8F-C00B-03A9-8657-A4195271461F}"/>
              </a:ext>
            </a:extLst>
          </p:cNvPr>
          <p:cNvSpPr>
            <a:spLocks noGrp="1"/>
          </p:cNvSpPr>
          <p:nvPr>
            <p:ph type="title"/>
          </p:nvPr>
        </p:nvSpPr>
        <p:spPr/>
        <p:txBody>
          <a:bodyPr>
            <a:normAutofit/>
          </a:bodyPr>
          <a:lstStyle/>
          <a:p>
            <a:r>
              <a:rPr lang="en-US" sz="4000" dirty="0"/>
              <a:t>Summary</a:t>
            </a:r>
          </a:p>
        </p:txBody>
      </p:sp>
      <p:sp>
        <p:nvSpPr>
          <p:cNvPr id="3" name="Content Placeholder 2">
            <a:extLst>
              <a:ext uri="{FF2B5EF4-FFF2-40B4-BE49-F238E27FC236}">
                <a16:creationId xmlns:a16="http://schemas.microsoft.com/office/drawing/2014/main" id="{732D55C9-5B01-CC5A-D01C-5BDFBEB57639}"/>
              </a:ext>
            </a:extLst>
          </p:cNvPr>
          <p:cNvSpPr>
            <a:spLocks noGrp="1"/>
          </p:cNvSpPr>
          <p:nvPr>
            <p:ph sz="half" idx="1"/>
          </p:nvPr>
        </p:nvSpPr>
        <p:spPr>
          <a:xfrm>
            <a:off x="457200" y="1063229"/>
            <a:ext cx="7467600" cy="3262788"/>
          </a:xfrm>
        </p:spPr>
        <p:txBody>
          <a:bodyPr>
            <a:noAutofit/>
          </a:bodyPr>
          <a:lstStyle/>
          <a:p>
            <a:pPr algn="l">
              <a:buFont typeface="Arial" panose="020B0604020202020204" pitchFamily="34" charset="0"/>
              <a:buChar char="•"/>
            </a:pPr>
            <a:r>
              <a:rPr lang="en-CA" sz="1600" b="0" i="0" dirty="0">
                <a:effectLst/>
                <a:latin typeface="Lato" panose="020F0502020204030203" pitchFamily="34" charset="0"/>
              </a:rPr>
              <a:t>A local Git repository can be connected to one or more remote repositories.</a:t>
            </a:r>
          </a:p>
          <a:p>
            <a:pPr algn="l">
              <a:buFont typeface="Arial" panose="020B0604020202020204" pitchFamily="34" charset="0"/>
              <a:buChar char="•"/>
            </a:pPr>
            <a:r>
              <a:rPr lang="en-CA" sz="1600" b="0" i="0" dirty="0">
                <a:effectLst/>
                <a:latin typeface="Lato" panose="020F0502020204030203" pitchFamily="34" charset="0"/>
              </a:rPr>
              <a:t>Use the </a:t>
            </a:r>
            <a:r>
              <a:rPr lang="en-CA" sz="1600" b="0" i="0" dirty="0">
                <a:solidFill>
                  <a:srgbClr val="5BC1FF"/>
                </a:solidFill>
                <a:effectLst/>
                <a:latin typeface="Lato" panose="020F0502020204030203" pitchFamily="34" charset="0"/>
              </a:rPr>
              <a:t>SSH protocol </a:t>
            </a:r>
            <a:r>
              <a:rPr lang="en-CA" sz="1600" b="0" i="0" dirty="0">
                <a:effectLst/>
                <a:latin typeface="Lato" panose="020F0502020204030203" pitchFamily="34" charset="0"/>
              </a:rPr>
              <a:t>to connect to remote repositories.</a:t>
            </a:r>
          </a:p>
          <a:p>
            <a:pPr algn="l">
              <a:buFont typeface="Arial" panose="020B0604020202020204" pitchFamily="34" charset="0"/>
              <a:buChar char="•"/>
            </a:pPr>
            <a:r>
              <a:rPr lang="en-CA" sz="1600" b="0" i="0" dirty="0">
                <a:solidFill>
                  <a:srgbClr val="007434"/>
                </a:solidFill>
                <a:effectLst/>
                <a:latin typeface="Lato" panose="020F0502020204030203" pitchFamily="34" charset="0"/>
              </a:rPr>
              <a:t>git push </a:t>
            </a:r>
            <a:r>
              <a:rPr lang="en-CA" sz="1600" b="0" i="0" dirty="0">
                <a:effectLst/>
                <a:latin typeface="Lato" panose="020F0502020204030203" pitchFamily="34" charset="0"/>
              </a:rPr>
              <a:t>copies changes from a local repository to a remote repository.</a:t>
            </a:r>
          </a:p>
          <a:p>
            <a:pPr algn="l">
              <a:buFont typeface="Arial" panose="020B0604020202020204" pitchFamily="34" charset="0"/>
              <a:buChar char="•"/>
            </a:pPr>
            <a:r>
              <a:rPr lang="en-CA" sz="1600" b="0" i="0" dirty="0">
                <a:solidFill>
                  <a:srgbClr val="FF0000"/>
                </a:solidFill>
                <a:effectLst/>
                <a:latin typeface="Lato" panose="020F0502020204030203" pitchFamily="34" charset="0"/>
              </a:rPr>
              <a:t>git pull </a:t>
            </a:r>
            <a:r>
              <a:rPr lang="en-CA" sz="1600" b="0" i="0" dirty="0">
                <a:effectLst/>
                <a:latin typeface="Lato" panose="020F0502020204030203" pitchFamily="34" charset="0"/>
              </a:rPr>
              <a:t>copies changes from a remote repository to a local repository. In practice, it is good to be sure that you have an updated version of the repository you are collaborating on, so you should git pull before making our changes. The basic collaborative workflow would be:</a:t>
            </a:r>
          </a:p>
          <a:p>
            <a:pPr algn="l">
              <a:buFont typeface="Arial" panose="020B0604020202020204" pitchFamily="34" charset="0"/>
              <a:buChar char="•"/>
            </a:pPr>
            <a:r>
              <a:rPr lang="en-CA" sz="1600" b="0" i="0" dirty="0">
                <a:solidFill>
                  <a:srgbClr val="404040"/>
                </a:solidFill>
                <a:effectLst/>
                <a:latin typeface="Lato" panose="020F0502020204030203" pitchFamily="34" charset="0"/>
              </a:rPr>
              <a:t>update your local repo with git pull origin master,</a:t>
            </a:r>
          </a:p>
          <a:p>
            <a:pPr algn="l">
              <a:buFont typeface="Arial" panose="020B0604020202020204" pitchFamily="34" charset="0"/>
              <a:buChar char="•"/>
            </a:pPr>
            <a:r>
              <a:rPr lang="en-CA" sz="1600" b="0" i="0" dirty="0">
                <a:solidFill>
                  <a:srgbClr val="404040"/>
                </a:solidFill>
                <a:effectLst/>
                <a:latin typeface="Lato" panose="020F0502020204030203" pitchFamily="34" charset="0"/>
              </a:rPr>
              <a:t>make your changes and stage them with git add,</a:t>
            </a:r>
          </a:p>
          <a:p>
            <a:pPr algn="l">
              <a:buFont typeface="Arial" panose="020B0604020202020204" pitchFamily="34" charset="0"/>
              <a:buChar char="•"/>
            </a:pPr>
            <a:r>
              <a:rPr lang="en-CA" sz="1600" b="0" i="0" dirty="0">
                <a:solidFill>
                  <a:srgbClr val="404040"/>
                </a:solidFill>
                <a:effectLst/>
                <a:latin typeface="Lato" panose="020F0502020204030203" pitchFamily="34" charset="0"/>
              </a:rPr>
              <a:t>commit your changes with git commit -m, and</a:t>
            </a:r>
          </a:p>
          <a:p>
            <a:pPr algn="l">
              <a:buFont typeface="Arial" panose="020B0604020202020204" pitchFamily="34" charset="0"/>
              <a:buChar char="•"/>
            </a:pPr>
            <a:r>
              <a:rPr lang="en-CA" sz="1600" b="0" i="0" dirty="0">
                <a:solidFill>
                  <a:srgbClr val="404040"/>
                </a:solidFill>
                <a:effectLst/>
                <a:latin typeface="Lato" panose="020F0502020204030203" pitchFamily="34" charset="0"/>
              </a:rPr>
              <a:t>upload the changes to GitLab with git push origin master</a:t>
            </a:r>
          </a:p>
        </p:txBody>
      </p:sp>
      <p:sp>
        <p:nvSpPr>
          <p:cNvPr id="5" name="Date Placeholder 4">
            <a:extLst>
              <a:ext uri="{FF2B5EF4-FFF2-40B4-BE49-F238E27FC236}">
                <a16:creationId xmlns:a16="http://schemas.microsoft.com/office/drawing/2014/main" id="{946C317A-21EE-9210-0C76-CC669A285C18}"/>
              </a:ext>
            </a:extLst>
          </p:cNvPr>
          <p:cNvSpPr>
            <a:spLocks noGrp="1"/>
          </p:cNvSpPr>
          <p:nvPr>
            <p:ph type="dt" sz="half" idx="10"/>
          </p:nvPr>
        </p:nvSpPr>
        <p:spPr/>
        <p:txBody>
          <a:bodyPr/>
          <a:lstStyle/>
          <a:p>
            <a:fld id="{360D11B8-E184-47EB-B689-91B87491E864}" type="datetime1">
              <a:rPr lang="en-US" smtClean="0"/>
              <a:t>11/18/2025</a:t>
            </a:fld>
            <a:endParaRPr lang="en-US" dirty="0"/>
          </a:p>
        </p:txBody>
      </p:sp>
      <p:sp>
        <p:nvSpPr>
          <p:cNvPr id="6" name="Footer Placeholder 5">
            <a:extLst>
              <a:ext uri="{FF2B5EF4-FFF2-40B4-BE49-F238E27FC236}">
                <a16:creationId xmlns:a16="http://schemas.microsoft.com/office/drawing/2014/main" id="{81CF67E0-5BAA-C3EC-02D3-95531C152DD5}"/>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7" name="Slide Number Placeholder 6">
            <a:extLst>
              <a:ext uri="{FF2B5EF4-FFF2-40B4-BE49-F238E27FC236}">
                <a16:creationId xmlns:a16="http://schemas.microsoft.com/office/drawing/2014/main" id="{F8BD7150-D381-9783-8642-4E587BF3A473}"/>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23</a:t>
            </a:fld>
            <a:endParaRPr lang="en-US" dirty="0"/>
          </a:p>
        </p:txBody>
      </p:sp>
    </p:spTree>
    <p:extLst>
      <p:ext uri="{BB962C8B-B14F-4D97-AF65-F5344CB8AC3E}">
        <p14:creationId xmlns:p14="http://schemas.microsoft.com/office/powerpoint/2010/main" val="1967799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DD8F-C00B-03A9-8657-A4195271461F}"/>
              </a:ext>
            </a:extLst>
          </p:cNvPr>
          <p:cNvSpPr>
            <a:spLocks noGrp="1"/>
          </p:cNvSpPr>
          <p:nvPr>
            <p:ph type="title"/>
          </p:nvPr>
        </p:nvSpPr>
        <p:spPr/>
        <p:txBody>
          <a:bodyPr>
            <a:normAutofit/>
          </a:bodyPr>
          <a:lstStyle/>
          <a:p>
            <a:r>
              <a:rPr lang="en-US" sz="4000" dirty="0"/>
              <a:t>GitLab CI</a:t>
            </a:r>
          </a:p>
        </p:txBody>
      </p:sp>
      <p:sp>
        <p:nvSpPr>
          <p:cNvPr id="3" name="Content Placeholder 2">
            <a:extLst>
              <a:ext uri="{FF2B5EF4-FFF2-40B4-BE49-F238E27FC236}">
                <a16:creationId xmlns:a16="http://schemas.microsoft.com/office/drawing/2014/main" id="{732D55C9-5B01-CC5A-D01C-5BDFBEB57639}"/>
              </a:ext>
            </a:extLst>
          </p:cNvPr>
          <p:cNvSpPr>
            <a:spLocks noGrp="1"/>
          </p:cNvSpPr>
          <p:nvPr>
            <p:ph sz="half" idx="1"/>
          </p:nvPr>
        </p:nvSpPr>
        <p:spPr>
          <a:xfrm>
            <a:off x="457200" y="1063229"/>
            <a:ext cx="7467600" cy="3262788"/>
          </a:xfrm>
        </p:spPr>
        <p:txBody>
          <a:bodyPr>
            <a:noAutofit/>
          </a:bodyPr>
          <a:lstStyle/>
          <a:p>
            <a:pPr algn="l">
              <a:buFont typeface="Arial" panose="020B0604020202020204" pitchFamily="34" charset="0"/>
              <a:buChar char="•"/>
            </a:pPr>
            <a:r>
              <a:rPr lang="en-CA" sz="1800" dirty="0">
                <a:latin typeface="Lato" panose="020F0502020204030203" pitchFamily="34" charset="0"/>
              </a:rPr>
              <a:t>Continuous integration (or CI) is a popular development practice where one or more tasks are ran automatically, often each time a commit is pushed to a remote repository.</a:t>
            </a:r>
          </a:p>
          <a:p>
            <a:pPr algn="l">
              <a:buFont typeface="Arial" panose="020B0604020202020204" pitchFamily="34" charset="0"/>
              <a:buChar char="•"/>
            </a:pPr>
            <a:r>
              <a:rPr lang="en-CA" sz="1800" dirty="0">
                <a:latin typeface="Lato" panose="020F0502020204030203" pitchFamily="34" charset="0"/>
              </a:rPr>
              <a:t>Used for R</a:t>
            </a:r>
            <a:r>
              <a:rPr lang="en-CA" sz="1800" b="0" i="0" dirty="0">
                <a:effectLst/>
                <a:latin typeface="Lato" panose="020F0502020204030203" pitchFamily="34" charset="0"/>
              </a:rPr>
              <a:t>unning tests for software packages or deploying changes.</a:t>
            </a:r>
          </a:p>
          <a:p>
            <a:pPr algn="l">
              <a:buFont typeface="Arial" panose="020B0604020202020204" pitchFamily="34" charset="0"/>
              <a:buChar char="•"/>
            </a:pPr>
            <a:r>
              <a:rPr lang="en-CA" sz="1800" b="0" i="0" dirty="0">
                <a:effectLst/>
                <a:latin typeface="Lato" panose="020F0502020204030203" pitchFamily="34" charset="0"/>
              </a:rPr>
              <a:t>The </a:t>
            </a:r>
            <a:r>
              <a:rPr lang="en-CA" sz="1800" b="0" i="0" dirty="0">
                <a:solidFill>
                  <a:srgbClr val="C00000"/>
                </a:solidFill>
                <a:effectLst/>
                <a:latin typeface="Lato" panose="020F0502020204030203" pitchFamily="34" charset="0"/>
              </a:rPr>
              <a:t>.</a:t>
            </a:r>
            <a:r>
              <a:rPr lang="en-CA" sz="1800" b="0" i="0" dirty="0" err="1">
                <a:solidFill>
                  <a:srgbClr val="C00000"/>
                </a:solidFill>
                <a:effectLst/>
                <a:latin typeface="Lato" panose="020F0502020204030203" pitchFamily="34" charset="0"/>
              </a:rPr>
              <a:t>gitlab-ci.yml</a:t>
            </a:r>
            <a:r>
              <a:rPr lang="en-CA" sz="1800" b="0" i="0" dirty="0">
                <a:solidFill>
                  <a:srgbClr val="C00000"/>
                </a:solidFill>
                <a:effectLst/>
                <a:latin typeface="Lato" panose="020F0502020204030203" pitchFamily="34" charset="0"/>
              </a:rPr>
              <a:t> </a:t>
            </a:r>
            <a:r>
              <a:rPr lang="en-CA" sz="1800" b="0" i="0" dirty="0">
                <a:effectLst/>
                <a:latin typeface="Lato" panose="020F0502020204030203" pitchFamily="34" charset="0"/>
              </a:rPr>
              <a:t>file is used to configure CI.</a:t>
            </a:r>
          </a:p>
          <a:p>
            <a:pPr>
              <a:buFont typeface="Arial" panose="020B0604020202020204" pitchFamily="34" charset="0"/>
              <a:buChar char="•"/>
            </a:pPr>
            <a:r>
              <a:rPr lang="en-CA" sz="1800" dirty="0">
                <a:latin typeface="Lato" panose="020F0502020204030203" pitchFamily="34" charset="0"/>
              </a:rPr>
              <a:t>“</a:t>
            </a:r>
            <a:r>
              <a:rPr lang="en-CA" sz="1800" b="0" i="0" dirty="0">
                <a:effectLst/>
                <a:latin typeface="Lato" panose="020F0502020204030203" pitchFamily="34" charset="0"/>
              </a:rPr>
              <a:t>Pipeline failed" means you can not merge because GitLab CI test has failed (</a:t>
            </a:r>
            <a:r>
              <a:rPr lang="en-CA" sz="1800" b="0" i="0" dirty="0">
                <a:solidFill>
                  <a:srgbClr val="FF0000"/>
                </a:solidFill>
                <a:effectLst/>
                <a:latin typeface="Lato" panose="020F0502020204030203" pitchFamily="34" charset="0"/>
              </a:rPr>
              <a:t>https://</a:t>
            </a:r>
            <a:r>
              <a:rPr lang="en-CA" sz="1800" b="0" i="0" dirty="0" err="1">
                <a:solidFill>
                  <a:srgbClr val="FF0000"/>
                </a:solidFill>
                <a:effectLst/>
                <a:latin typeface="Lato" panose="020F0502020204030203" pitchFamily="34" charset="0"/>
              </a:rPr>
              <a:t>gitlab.cern.ch</a:t>
            </a:r>
            <a:r>
              <a:rPr lang="en-CA" sz="1800" b="0" i="0" dirty="0">
                <a:solidFill>
                  <a:srgbClr val="FF0000"/>
                </a:solidFill>
                <a:effectLst/>
                <a:latin typeface="Lato" panose="020F0502020204030203" pitchFamily="34" charset="0"/>
              </a:rPr>
              <a:t>/</a:t>
            </a:r>
            <a:r>
              <a:rPr lang="en-CA" sz="1800" b="0" i="0" dirty="0" err="1">
                <a:solidFill>
                  <a:srgbClr val="FF0000"/>
                </a:solidFill>
                <a:effectLst/>
                <a:latin typeface="Lato" panose="020F0502020204030203" pitchFamily="34" charset="0"/>
              </a:rPr>
              <a:t>lhcb</a:t>
            </a:r>
            <a:r>
              <a:rPr lang="en-CA" sz="1800" b="0" i="0" dirty="0">
                <a:solidFill>
                  <a:srgbClr val="FF0000"/>
                </a:solidFill>
                <a:effectLst/>
                <a:latin typeface="Lato" panose="020F0502020204030203" pitchFamily="34" charset="0"/>
              </a:rPr>
              <a:t>/Alignment/-/pipelines</a:t>
            </a:r>
            <a:r>
              <a:rPr lang="en-CA" sz="1800" b="0" i="0" dirty="0">
                <a:effectLst/>
                <a:latin typeface="Lato" panose="020F0502020204030203" pitchFamily="34" charset="0"/>
              </a:rPr>
              <a:t>).</a:t>
            </a:r>
            <a:endParaRPr lang="en-CA" sz="1800" dirty="0">
              <a:latin typeface="Lato" panose="020F0502020204030203" pitchFamily="34" charset="0"/>
            </a:endParaRPr>
          </a:p>
          <a:p>
            <a:pPr>
              <a:buFont typeface="Arial" panose="020B0604020202020204" pitchFamily="34" charset="0"/>
              <a:buChar char="•"/>
            </a:pPr>
            <a:r>
              <a:rPr lang="en-CA" sz="1800" b="0" i="0" dirty="0">
                <a:effectLst/>
                <a:latin typeface="Lato" panose="020F0502020204030203" pitchFamily="34" charset="0"/>
              </a:rPr>
              <a:t>Practice:</a:t>
            </a:r>
            <a:r>
              <a:rPr lang="en-CA" sz="1800" b="0" i="0" dirty="0">
                <a:solidFill>
                  <a:srgbClr val="FFC000"/>
                </a:solidFill>
                <a:effectLst/>
                <a:latin typeface="Lato" panose="020F0502020204030203" pitchFamily="34" charset="0"/>
              </a:rPr>
              <a:t> </a:t>
            </a:r>
            <a:r>
              <a:rPr lang="en-CA" sz="1800" b="0" i="0" dirty="0">
                <a:solidFill>
                  <a:schemeClr val="bg2">
                    <a:lumMod val="10000"/>
                  </a:schemeClr>
                </a:solidFill>
                <a:effectLst/>
                <a:latin typeface="Lato" panose="020F0502020204030203" pitchFamily="34" charset="0"/>
              </a:rPr>
              <a:t>https://</a:t>
            </a:r>
            <a:r>
              <a:rPr lang="en-CA" sz="1800" b="0" i="0" dirty="0" err="1">
                <a:solidFill>
                  <a:schemeClr val="bg2">
                    <a:lumMod val="10000"/>
                  </a:schemeClr>
                </a:solidFill>
                <a:effectLst/>
                <a:latin typeface="Lato" panose="020F0502020204030203" pitchFamily="34" charset="0"/>
              </a:rPr>
              <a:t>hsf-training.github.io</a:t>
            </a:r>
            <a:r>
              <a:rPr lang="en-CA" sz="1800" b="0" i="0" dirty="0">
                <a:solidFill>
                  <a:schemeClr val="bg2">
                    <a:lumMod val="10000"/>
                  </a:schemeClr>
                </a:solidFill>
                <a:effectLst/>
                <a:latin typeface="Lato" panose="020F0502020204030203" pitchFamily="34" charset="0"/>
              </a:rPr>
              <a:t>/analysis-essentials/git/11-ci.html</a:t>
            </a:r>
          </a:p>
        </p:txBody>
      </p:sp>
      <p:sp>
        <p:nvSpPr>
          <p:cNvPr id="5" name="Date Placeholder 4">
            <a:extLst>
              <a:ext uri="{FF2B5EF4-FFF2-40B4-BE49-F238E27FC236}">
                <a16:creationId xmlns:a16="http://schemas.microsoft.com/office/drawing/2014/main" id="{946C317A-21EE-9210-0C76-CC669A285C18}"/>
              </a:ext>
            </a:extLst>
          </p:cNvPr>
          <p:cNvSpPr>
            <a:spLocks noGrp="1"/>
          </p:cNvSpPr>
          <p:nvPr>
            <p:ph type="dt" sz="half" idx="10"/>
          </p:nvPr>
        </p:nvSpPr>
        <p:spPr/>
        <p:txBody>
          <a:bodyPr/>
          <a:lstStyle/>
          <a:p>
            <a:fld id="{360D11B8-E184-47EB-B689-91B87491E864}" type="datetime1">
              <a:rPr lang="en-US" smtClean="0"/>
              <a:t>11/18/2025</a:t>
            </a:fld>
            <a:endParaRPr lang="en-US" dirty="0"/>
          </a:p>
        </p:txBody>
      </p:sp>
      <p:sp>
        <p:nvSpPr>
          <p:cNvPr id="6" name="Footer Placeholder 5">
            <a:extLst>
              <a:ext uri="{FF2B5EF4-FFF2-40B4-BE49-F238E27FC236}">
                <a16:creationId xmlns:a16="http://schemas.microsoft.com/office/drawing/2014/main" id="{81CF67E0-5BAA-C3EC-02D3-95531C152DD5}"/>
              </a:ext>
            </a:extLst>
          </p:cNvPr>
          <p:cNvSpPr>
            <a:spLocks noGrp="1"/>
          </p:cNvSpPr>
          <p:nvPr>
            <p:ph type="ftr" sz="quarter" idx="4294967295"/>
          </p:nvPr>
        </p:nvSpPr>
        <p:spPr>
          <a:xfrm>
            <a:off x="6248400" y="4767263"/>
            <a:ext cx="2895600" cy="274637"/>
          </a:xfrm>
        </p:spPr>
        <p:txBody>
          <a:bodyPr/>
          <a:lstStyle/>
          <a:p>
            <a:r>
              <a:rPr lang="en-US"/>
              <a:t> </a:t>
            </a:r>
            <a:endParaRPr lang="en-US" dirty="0"/>
          </a:p>
        </p:txBody>
      </p:sp>
      <p:sp>
        <p:nvSpPr>
          <p:cNvPr id="7" name="Slide Number Placeholder 6">
            <a:extLst>
              <a:ext uri="{FF2B5EF4-FFF2-40B4-BE49-F238E27FC236}">
                <a16:creationId xmlns:a16="http://schemas.microsoft.com/office/drawing/2014/main" id="{F8BD7150-D381-9783-8642-4E587BF3A473}"/>
              </a:ext>
            </a:extLst>
          </p:cNvPr>
          <p:cNvSpPr>
            <a:spLocks noGrp="1"/>
          </p:cNvSpPr>
          <p:nvPr>
            <p:ph type="sldNum" sz="quarter" idx="4294967295"/>
          </p:nvPr>
        </p:nvSpPr>
        <p:spPr>
          <a:xfrm>
            <a:off x="8642350" y="4767263"/>
            <a:ext cx="501650" cy="274637"/>
          </a:xfrm>
        </p:spPr>
        <p:txBody>
          <a:bodyPr/>
          <a:lstStyle/>
          <a:p>
            <a:fld id="{17918391-D411-FE40-AAD7-861AE5233E0E}" type="slidenum">
              <a:rPr lang="en-US" smtClean="0"/>
              <a:pPr/>
              <a:t>24</a:t>
            </a:fld>
            <a:endParaRPr lang="en-US" dirty="0"/>
          </a:p>
        </p:txBody>
      </p:sp>
    </p:spTree>
    <p:extLst>
      <p:ext uri="{BB962C8B-B14F-4D97-AF65-F5344CB8AC3E}">
        <p14:creationId xmlns:p14="http://schemas.microsoft.com/office/powerpoint/2010/main" val="4196542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CD5DEB5-20DC-42EC-8616-F008691FA541}"/>
              </a:ext>
            </a:extLst>
          </p:cNvPr>
          <p:cNvSpPr>
            <a:spLocks noGrp="1"/>
          </p:cNvSpPr>
          <p:nvPr>
            <p:ph type="title"/>
          </p:nvPr>
        </p:nvSpPr>
        <p:spPr/>
        <p:txBody>
          <a:bodyPr>
            <a:normAutofit fontScale="90000"/>
          </a:bodyPr>
          <a:lstStyle/>
          <a:p>
            <a:pPr algn="ctr"/>
            <a:r>
              <a:rPr lang="en-US" sz="4800" dirty="0">
                <a:latin typeface="Edwardian Script ITC" panose="030303020407070D0804" pitchFamily="66" charset="0"/>
              </a:rPr>
              <a:t>Thanks for your attention</a:t>
            </a:r>
            <a:endParaRPr lang="en-US" dirty="0"/>
          </a:p>
        </p:txBody>
      </p:sp>
      <p:sp>
        <p:nvSpPr>
          <p:cNvPr id="3" name="Date Placeholder 2">
            <a:extLst>
              <a:ext uri="{FF2B5EF4-FFF2-40B4-BE49-F238E27FC236}">
                <a16:creationId xmlns:a16="http://schemas.microsoft.com/office/drawing/2014/main" id="{1AD44B3B-BDF9-47A4-B5B8-D4C3BA99EFEA}"/>
              </a:ext>
            </a:extLst>
          </p:cNvPr>
          <p:cNvSpPr>
            <a:spLocks noGrp="1"/>
          </p:cNvSpPr>
          <p:nvPr>
            <p:ph type="dt" sz="half" idx="2"/>
          </p:nvPr>
        </p:nvSpPr>
        <p:spPr/>
        <p:txBody>
          <a:bodyPr/>
          <a:lstStyle/>
          <a:p>
            <a:fld id="{A65C6BDB-C23F-4FAA-8333-2DF68A2CE791}" type="datetime1">
              <a:rPr lang="en-US" smtClean="0"/>
              <a:t>11/18/2025</a:t>
            </a:fld>
            <a:endParaRPr lang="en-US" dirty="0"/>
          </a:p>
        </p:txBody>
      </p:sp>
      <p:sp>
        <p:nvSpPr>
          <p:cNvPr id="4" name="Footer Placeholder 3">
            <a:extLst>
              <a:ext uri="{FF2B5EF4-FFF2-40B4-BE49-F238E27FC236}">
                <a16:creationId xmlns:a16="http://schemas.microsoft.com/office/drawing/2014/main" id="{D4FC041E-A515-403E-89AA-14187DB5DB44}"/>
              </a:ext>
            </a:extLst>
          </p:cNvPr>
          <p:cNvSpPr>
            <a:spLocks noGrp="1"/>
          </p:cNvSpPr>
          <p:nvPr>
            <p:ph type="ftr" sz="quarter" idx="3"/>
          </p:nvPr>
        </p:nvSpPr>
        <p:spPr/>
        <p:txBody>
          <a:bodyPr/>
          <a:lstStyle/>
          <a:p>
            <a:r>
              <a:rPr lang="en-US" dirty="0"/>
              <a:t> </a:t>
            </a:r>
          </a:p>
        </p:txBody>
      </p:sp>
      <p:sp>
        <p:nvSpPr>
          <p:cNvPr id="5" name="Slide Number Placeholder 4">
            <a:extLst>
              <a:ext uri="{FF2B5EF4-FFF2-40B4-BE49-F238E27FC236}">
                <a16:creationId xmlns:a16="http://schemas.microsoft.com/office/drawing/2014/main" id="{2123A29E-9141-47C2-B8D5-7578AAF6093F}"/>
              </a:ext>
            </a:extLst>
          </p:cNvPr>
          <p:cNvSpPr>
            <a:spLocks noGrp="1"/>
          </p:cNvSpPr>
          <p:nvPr>
            <p:ph type="sldNum" sz="quarter" idx="4"/>
          </p:nvPr>
        </p:nvSpPr>
        <p:spPr/>
        <p:txBody>
          <a:bodyPr/>
          <a:lstStyle/>
          <a:p>
            <a:fld id="{17918391-D411-FE40-AAD7-861AE5233E0E}" type="slidenum">
              <a:rPr lang="en-US" smtClean="0"/>
              <a:pPr/>
              <a:t>25</a:t>
            </a:fld>
            <a:endParaRPr lang="en-US" dirty="0"/>
          </a:p>
        </p:txBody>
      </p:sp>
    </p:spTree>
    <p:extLst>
      <p:ext uri="{BB962C8B-B14F-4D97-AF65-F5344CB8AC3E}">
        <p14:creationId xmlns:p14="http://schemas.microsoft.com/office/powerpoint/2010/main" val="3791906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6395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4279</TotalTime>
  <Words>970</Words>
  <Application>Microsoft Office PowerPoint</Application>
  <PresentationFormat>On-screen Show (16:9)</PresentationFormat>
  <Paragraphs>243</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-apple-system</vt:lpstr>
      <vt:lpstr>Arial</vt:lpstr>
      <vt:lpstr>Calibri</vt:lpstr>
      <vt:lpstr>Century Gothic</vt:lpstr>
      <vt:lpstr>Edwardian Script ITC</vt:lpstr>
      <vt:lpstr>Lato</vt:lpstr>
      <vt:lpstr>Optima</vt:lpstr>
      <vt:lpstr>Wingdings 3</vt:lpstr>
      <vt:lpstr>Ion</vt:lpstr>
      <vt:lpstr>Outline</vt:lpstr>
      <vt:lpstr>WHAT IS VERSION CONTROL</vt:lpstr>
      <vt:lpstr>What is Git/GitLab/GitHub?</vt:lpstr>
      <vt:lpstr>Download Git</vt:lpstr>
      <vt:lpstr>Setting up Git</vt:lpstr>
      <vt:lpstr>Creating a Repository</vt:lpstr>
      <vt:lpstr>How does Git work?</vt:lpstr>
      <vt:lpstr>How does Git work?</vt:lpstr>
      <vt:lpstr>Git Unstage files </vt:lpstr>
      <vt:lpstr>Track Changes</vt:lpstr>
      <vt:lpstr>Committing a folder</vt:lpstr>
      <vt:lpstr>Delete Files</vt:lpstr>
      <vt:lpstr>Delete Folder</vt:lpstr>
      <vt:lpstr>Ignore files (For private files not in repo)</vt:lpstr>
      <vt:lpstr>Git Branch </vt:lpstr>
      <vt:lpstr>Git Merge</vt:lpstr>
      <vt:lpstr>Fast-forward Merge</vt:lpstr>
      <vt:lpstr>Git Merge</vt:lpstr>
      <vt:lpstr>Git Merge</vt:lpstr>
      <vt:lpstr>Advanced Merge</vt:lpstr>
      <vt:lpstr>Merge Conflicts</vt:lpstr>
      <vt:lpstr>Remotes in CERN Gitlab- SSH</vt:lpstr>
      <vt:lpstr>Summary</vt:lpstr>
      <vt:lpstr>GitLab CI</vt:lpstr>
      <vt:lpstr>Thanks for your attention</vt:lpstr>
      <vt:lpstr>PowerPoint Presentation</vt:lpstr>
    </vt:vector>
  </TitlesOfParts>
  <Company>cern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CERN User</dc:creator>
  <cp:lastModifiedBy>pariweshg@gmail.com</cp:lastModifiedBy>
  <cp:revision>122</cp:revision>
  <dcterms:created xsi:type="dcterms:W3CDTF">2012-11-30T11:04:26Z</dcterms:created>
  <dcterms:modified xsi:type="dcterms:W3CDTF">2025-11-18T03:36:26Z</dcterms:modified>
</cp:coreProperties>
</file>